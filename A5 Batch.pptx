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55" r:id="rId1"/>
  </p:sldMasterIdLst>
  <p:sldIdLst>
    <p:sldId id="256" r:id="rId2"/>
    <p:sldId id="257" r:id="rId3"/>
    <p:sldId id="258" r:id="rId4"/>
    <p:sldId id="259" r:id="rId5"/>
    <p:sldId id="276" r:id="rId6"/>
    <p:sldId id="260" r:id="rId7"/>
    <p:sldId id="261" r:id="rId8"/>
    <p:sldId id="262" r:id="rId9"/>
    <p:sldId id="264" r:id="rId10"/>
    <p:sldId id="267" r:id="rId11"/>
    <p:sldId id="269" r:id="rId12"/>
    <p:sldId id="270" r:id="rId13"/>
    <p:sldId id="277" r:id="rId14"/>
    <p:sldId id="278" r:id="rId15"/>
    <p:sldId id="289" r:id="rId16"/>
    <p:sldId id="279" r:id="rId17"/>
    <p:sldId id="280" r:id="rId18"/>
    <p:sldId id="281" r:id="rId19"/>
    <p:sldId id="282" r:id="rId20"/>
    <p:sldId id="283" r:id="rId21"/>
    <p:sldId id="284" r:id="rId22"/>
    <p:sldId id="285" r:id="rId23"/>
    <p:sldId id="286" r:id="rId24"/>
    <p:sldId id="28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22N31A0511" initials="2" lastIdx="1" clrIdx="0">
    <p:extLst>
      <p:ext uri="{19B8F6BF-5375-455C-9EA6-DF929625EA0E}">
        <p15:presenceInfo xmlns:p15="http://schemas.microsoft.com/office/powerpoint/2012/main" userId="S-1-5-21-2234352357-1740867690-82202992-10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p:scale>
          <a:sx n="66" d="100"/>
          <a:sy n="66" d="100"/>
        </p:scale>
        <p:origin x="900"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0535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083352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145856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44701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519046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063803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818760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406605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5/3/2024</a:t>
            </a:fld>
            <a:endParaRPr lang="en-US" dirty="0"/>
          </a:p>
        </p:txBody>
      </p:sp>
    </p:spTree>
    <p:extLst>
      <p:ext uri="{BB962C8B-B14F-4D97-AF65-F5344CB8AC3E}">
        <p14:creationId xmlns:p14="http://schemas.microsoft.com/office/powerpoint/2010/main" val="31412278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543448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88446060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781883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76378812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27872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432613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5/3/2024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94743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5/3/2024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19844006"/>
      </p:ext>
    </p:extLst>
  </p:cSld>
  <p:clrMap bg1="lt1" tx1="dk1" bg2="lt2" tx2="dk2" accent1="accent1" accent2="accent2" accent3="accent3" accent4="accent4" accent5="accent5" accent6="accent6" hlink="hlink" folHlink="folHlink"/>
  <p:sldLayoutIdLst>
    <p:sldLayoutId id="2147483956" r:id="rId1"/>
    <p:sldLayoutId id="2147483957" r:id="rId2"/>
    <p:sldLayoutId id="2147483958" r:id="rId3"/>
    <p:sldLayoutId id="2147483959" r:id="rId4"/>
    <p:sldLayoutId id="2147483960" r:id="rId5"/>
    <p:sldLayoutId id="2147483961" r:id="rId6"/>
    <p:sldLayoutId id="2147483962" r:id="rId7"/>
    <p:sldLayoutId id="2147483963" r:id="rId8"/>
    <p:sldLayoutId id="2147483964" r:id="rId9"/>
    <p:sldLayoutId id="2147483965" r:id="rId10"/>
    <p:sldLayoutId id="2147483966" r:id="rId11"/>
    <p:sldLayoutId id="2147483967" r:id="rId12"/>
    <p:sldLayoutId id="2147483968" r:id="rId13"/>
    <p:sldLayoutId id="2147483969" r:id="rId14"/>
    <p:sldLayoutId id="2147483970" r:id="rId15"/>
    <p:sldLayoutId id="214748397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929B2C7-D965-4561-8DF0-9976DD9FCF18}"/>
              </a:ext>
            </a:extLst>
          </p:cNvPr>
          <p:cNvSpPr>
            <a:spLocks noGrp="1"/>
          </p:cNvSpPr>
          <p:nvPr>
            <p:ph type="title"/>
          </p:nvPr>
        </p:nvSpPr>
        <p:spPr>
          <a:xfrm>
            <a:off x="677335" y="1768722"/>
            <a:ext cx="8596668" cy="1164169"/>
          </a:xfrm>
        </p:spPr>
        <p:txBody>
          <a:bodyPr>
            <a:normAutofit fontScale="90000"/>
          </a:bodyPr>
          <a:lstStyle/>
          <a:p>
            <a:r>
              <a:rPr lang="en-US" sz="6000" dirty="0">
                <a:solidFill>
                  <a:schemeClr val="tx1"/>
                </a:solidFill>
                <a:latin typeface="Times New Roman" panose="02020603050405020304" pitchFamily="18" charset="0"/>
                <a:cs typeface="Times New Roman" panose="02020603050405020304" pitchFamily="18" charset="0"/>
              </a:rPr>
              <a:t>EMERGENCY PROTOCOL</a:t>
            </a:r>
          </a:p>
        </p:txBody>
      </p:sp>
      <p:sp>
        <p:nvSpPr>
          <p:cNvPr id="5" name="Text Placeholder 4">
            <a:extLst>
              <a:ext uri="{FF2B5EF4-FFF2-40B4-BE49-F238E27FC236}">
                <a16:creationId xmlns:a16="http://schemas.microsoft.com/office/drawing/2014/main" id="{325651A9-26B3-47D2-8C71-4B5249905AF3}"/>
              </a:ext>
            </a:extLst>
          </p:cNvPr>
          <p:cNvSpPr>
            <a:spLocks noGrp="1"/>
          </p:cNvSpPr>
          <p:nvPr>
            <p:ph type="body" idx="1"/>
          </p:nvPr>
        </p:nvSpPr>
        <p:spPr>
          <a:xfrm>
            <a:off x="6894286" y="4368421"/>
            <a:ext cx="2663686" cy="1994897"/>
          </a:xfrm>
        </p:spPr>
        <p:txBody>
          <a:bodyPr anchor="b">
            <a:normAutofit fontScale="92500" lnSpcReduction="10000"/>
          </a:bodyPr>
          <a:lstStyle/>
          <a:p>
            <a:pPr lvl="1"/>
            <a:r>
              <a:rPr lang="en-US" sz="2000" dirty="0"/>
              <a:t>BY:-</a:t>
            </a:r>
            <a:r>
              <a:rPr lang="en-US" sz="2000" dirty="0" err="1"/>
              <a:t>A.Vineelanjali</a:t>
            </a:r>
            <a:r>
              <a:rPr lang="en-US" sz="2000" dirty="0"/>
              <a:t> (22N31A0511)</a:t>
            </a:r>
          </a:p>
          <a:p>
            <a:pPr lvl="1"/>
            <a:r>
              <a:rPr lang="en-US" sz="2000" dirty="0" err="1"/>
              <a:t>D.Rohith</a:t>
            </a:r>
            <a:r>
              <a:rPr lang="en-US" sz="2000" dirty="0"/>
              <a:t> Sai (22N31A0545)</a:t>
            </a:r>
          </a:p>
          <a:p>
            <a:pPr lvl="1"/>
            <a:r>
              <a:rPr lang="en-US" sz="2000" dirty="0"/>
              <a:t>Pavan Aditya (22N31A0529)</a:t>
            </a:r>
          </a:p>
        </p:txBody>
      </p:sp>
      <p:pic>
        <p:nvPicPr>
          <p:cNvPr id="2" name="Picture 4" descr="first aid in every emergency situation ...">
            <a:extLst>
              <a:ext uri="{FF2B5EF4-FFF2-40B4-BE49-F238E27FC236}">
                <a16:creationId xmlns:a16="http://schemas.microsoft.com/office/drawing/2014/main" id="{FF099F1D-58A2-4694-BC33-60FEA5474B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73854" y="3370564"/>
            <a:ext cx="3723861" cy="24382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761836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1AB666B-CD43-4493-A6C2-AD23D917D11A}"/>
              </a:ext>
            </a:extLst>
          </p:cNvPr>
          <p:cNvSpPr>
            <a:spLocks noGrp="1"/>
          </p:cNvSpPr>
          <p:nvPr>
            <p:ph type="title"/>
          </p:nvPr>
        </p:nvSpPr>
        <p:spPr>
          <a:xfrm>
            <a:off x="567314" y="0"/>
            <a:ext cx="7277974" cy="649357"/>
          </a:xfrm>
        </p:spPr>
        <p:txBody>
          <a:bodyPr>
            <a:normAutofit fontScale="90000"/>
          </a:bodyPr>
          <a:lstStyle/>
          <a:p>
            <a:r>
              <a:rPr lang="en-US" dirty="0">
                <a:solidFill>
                  <a:schemeClr val="accent5"/>
                </a:solidFill>
              </a:rPr>
              <a:t>INTRODUCTION….</a:t>
            </a:r>
            <a:br>
              <a:rPr lang="en-US" dirty="0">
                <a:solidFill>
                  <a:schemeClr val="accent5"/>
                </a:solidFill>
              </a:rPr>
            </a:br>
            <a:r>
              <a:rPr lang="en-US" sz="2800" dirty="0">
                <a:solidFill>
                  <a:schemeClr val="accent5"/>
                </a:solidFill>
              </a:rPr>
              <a:t>1.1PURPOSE AND OBJECTIVES</a:t>
            </a:r>
            <a:endParaRPr lang="en-US" dirty="0">
              <a:solidFill>
                <a:schemeClr val="accent5"/>
              </a:solidFill>
            </a:endParaRPr>
          </a:p>
        </p:txBody>
      </p:sp>
      <p:sp>
        <p:nvSpPr>
          <p:cNvPr id="4" name="Content Placeholder 3">
            <a:extLst>
              <a:ext uri="{FF2B5EF4-FFF2-40B4-BE49-F238E27FC236}">
                <a16:creationId xmlns:a16="http://schemas.microsoft.com/office/drawing/2014/main" id="{F8CB8B87-C624-4FCC-8052-D412294B747A}"/>
              </a:ext>
            </a:extLst>
          </p:cNvPr>
          <p:cNvSpPr>
            <a:spLocks noGrp="1"/>
          </p:cNvSpPr>
          <p:nvPr>
            <p:ph idx="1"/>
          </p:nvPr>
        </p:nvSpPr>
        <p:spPr>
          <a:xfrm>
            <a:off x="567314" y="980662"/>
            <a:ext cx="9043366" cy="5738191"/>
          </a:xfrm>
        </p:spPr>
        <p:txBody>
          <a:bodyPr>
            <a:noAutofit/>
          </a:bodyPr>
          <a:lstStyle/>
          <a:p>
            <a:pPr marL="0" indent="0">
              <a:lnSpc>
                <a:spcPct val="150000"/>
              </a:lnSpc>
              <a:buNone/>
            </a:pPr>
            <a:r>
              <a:rPr lang="en-IN" sz="1600" dirty="0">
                <a:solidFill>
                  <a:schemeClr val="tx1"/>
                </a:solidFill>
              </a:rPr>
              <a:t>1.Emergency Preparedness: The website aims to promote emergency preparedness by providing accessible information on major health issues and their associated symptoms.
 2.Rapid Identification: It serves as a tool for rapid identification of medical emergencies by offering clear, concise descriptions of symptoms associated with various health conditions.
3.Public Education: The project aims to educate the public about common medical emergencies, fostering a greater understanding of health issues and promoting proactive healthcare practices.
4.Resource Accessibility: Provides a centralized platform for accessing critical health information, enhancing accessibility for individuals seeking guidance during emergency situations.
5.Enhanced Safety: Ultimately, the website contributes to enhancing community safety by equipping individuals with the knowledge and resources necessary to respond effectively to medical emergencies</a:t>
            </a:r>
            <a:r>
              <a:rPr lang="en-IN" sz="1600" dirty="0">
                <a:solidFill>
                  <a:schemeClr val="accent5"/>
                </a:solidFill>
              </a:rPr>
              <a:t>.</a:t>
            </a:r>
            <a:endParaRPr lang="en-US" sz="1600" dirty="0">
              <a:solidFill>
                <a:schemeClr val="accent5"/>
              </a:solidFill>
            </a:endParaRPr>
          </a:p>
        </p:txBody>
      </p:sp>
    </p:spTree>
    <p:extLst>
      <p:ext uri="{BB962C8B-B14F-4D97-AF65-F5344CB8AC3E}">
        <p14:creationId xmlns:p14="http://schemas.microsoft.com/office/powerpoint/2010/main" val="2433719503"/>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06106E-18E6-4090-8DD6-472AE97E0C6E}"/>
              </a:ext>
            </a:extLst>
          </p:cNvPr>
          <p:cNvSpPr>
            <a:spLocks noGrp="1"/>
          </p:cNvSpPr>
          <p:nvPr>
            <p:ph type="title"/>
          </p:nvPr>
        </p:nvSpPr>
        <p:spPr>
          <a:xfrm>
            <a:off x="225287" y="119271"/>
            <a:ext cx="9048715" cy="5274364"/>
          </a:xfrm>
        </p:spPr>
        <p:txBody>
          <a:bodyPr>
            <a:normAutofit/>
          </a:bodyPr>
          <a:lstStyle/>
          <a:p>
            <a:r>
              <a:rPr lang="en-US" sz="2400" dirty="0">
                <a:solidFill>
                  <a:schemeClr val="accent5"/>
                </a:solidFill>
              </a:rPr>
              <a:t>OBJECTIVES</a:t>
            </a:r>
            <a:br>
              <a:rPr lang="en-US" sz="2400" dirty="0">
                <a:solidFill>
                  <a:schemeClr val="accent5"/>
                </a:solidFill>
              </a:rPr>
            </a:br>
            <a:endParaRPr lang="en-US" sz="2400" dirty="0">
              <a:solidFill>
                <a:schemeClr val="accent5"/>
              </a:solidFill>
            </a:endParaRPr>
          </a:p>
        </p:txBody>
      </p:sp>
      <p:sp>
        <p:nvSpPr>
          <p:cNvPr id="5" name="Content Placeholder 4">
            <a:extLst>
              <a:ext uri="{FF2B5EF4-FFF2-40B4-BE49-F238E27FC236}">
                <a16:creationId xmlns:a16="http://schemas.microsoft.com/office/drawing/2014/main" id="{BBE97E17-9CCC-8F11-D5D5-AFD66C3B8AE1}"/>
              </a:ext>
            </a:extLst>
          </p:cNvPr>
          <p:cNvSpPr>
            <a:spLocks noGrp="1"/>
          </p:cNvSpPr>
          <p:nvPr>
            <p:ph idx="1"/>
          </p:nvPr>
        </p:nvSpPr>
        <p:spPr>
          <a:xfrm>
            <a:off x="677334" y="649357"/>
            <a:ext cx="8596668" cy="5737446"/>
          </a:xfrm>
        </p:spPr>
        <p:txBody>
          <a:bodyPr>
            <a:normAutofit fontScale="70000" lnSpcReduction="20000"/>
          </a:bodyPr>
          <a:lstStyle/>
          <a:p>
            <a:pPr marL="0" indent="0">
              <a:lnSpc>
                <a:spcPct val="170000"/>
              </a:lnSpc>
              <a:buNone/>
            </a:pPr>
            <a:r>
              <a:rPr lang="en-IN" dirty="0"/>
              <a:t>
1.Information Accessibility: Ensure that information on major health issues and their symptoms is readily accessible to users, regardless of their location or device, to facilitate informed decision-making during emergencies.
2.User-Friendly Interface: Design a user-friendly interface that allows for easy navigation and quick access to relevant information, ensuring that users can find what they need efficiently during high-stress situations.
3.Content Accuracy: Maintain a high standard of accuracy and reliability in the information provided, collaborating with medical professionals to ensure that symptoms and recommended actions are up-to-date and medically sound.
4.Emergency Response Optimization: Contribute to optimizing emergency response efforts by empowering users with the knowledge to recognize symptoms early, thereby reducing response times and improving outcomes in medical emergencies.
5.Community Engagement: Foster community engagement by encouraging users to share their experiences, feedback, and suggestions for improving the website, creating a collaborative environment focused on continuously enhancing emergency preparedness and response.
</a:t>
            </a:r>
            <a:endParaRPr lang="en-US" dirty="0"/>
          </a:p>
        </p:txBody>
      </p:sp>
    </p:spTree>
    <p:extLst>
      <p:ext uri="{BB962C8B-B14F-4D97-AF65-F5344CB8AC3E}">
        <p14:creationId xmlns:p14="http://schemas.microsoft.com/office/powerpoint/2010/main" val="389645407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92C43-7439-4C23-8F02-BFDE647AC7E9}"/>
              </a:ext>
            </a:extLst>
          </p:cNvPr>
          <p:cNvSpPr>
            <a:spLocks noGrp="1"/>
          </p:cNvSpPr>
          <p:nvPr>
            <p:ph type="title"/>
          </p:nvPr>
        </p:nvSpPr>
        <p:spPr>
          <a:xfrm>
            <a:off x="677334" y="0"/>
            <a:ext cx="8029344" cy="1099930"/>
          </a:xfrm>
        </p:spPr>
        <p:txBody>
          <a:bodyPr>
            <a:normAutofit/>
          </a:bodyPr>
          <a:lstStyle/>
          <a:p>
            <a:r>
              <a:rPr lang="en-US" sz="2800" dirty="0">
                <a:solidFill>
                  <a:schemeClr val="accent5"/>
                </a:solidFill>
              </a:rPr>
              <a:t>1.2 EXISTING AND PROPOSED SYSTEM</a:t>
            </a:r>
            <a:br>
              <a:rPr lang="en-US" sz="2800" dirty="0">
                <a:solidFill>
                  <a:schemeClr val="accent5"/>
                </a:solidFill>
              </a:rPr>
            </a:br>
            <a:r>
              <a:rPr lang="en-US" sz="2400" dirty="0">
                <a:solidFill>
                  <a:schemeClr val="accent5"/>
                </a:solidFill>
              </a:rPr>
              <a:t>EXISTING:-</a:t>
            </a:r>
          </a:p>
        </p:txBody>
      </p:sp>
      <p:sp>
        <p:nvSpPr>
          <p:cNvPr id="5" name="Content Placeholder 4">
            <a:extLst>
              <a:ext uri="{FF2B5EF4-FFF2-40B4-BE49-F238E27FC236}">
                <a16:creationId xmlns:a16="http://schemas.microsoft.com/office/drawing/2014/main" id="{B3373C61-414D-794D-3096-F303D1A2D2ED}"/>
              </a:ext>
            </a:extLst>
          </p:cNvPr>
          <p:cNvSpPr>
            <a:spLocks noGrp="1"/>
          </p:cNvSpPr>
          <p:nvPr>
            <p:ph idx="1"/>
          </p:nvPr>
        </p:nvSpPr>
        <p:spPr>
          <a:xfrm>
            <a:off x="677334" y="1007165"/>
            <a:ext cx="8596668" cy="5034198"/>
          </a:xfrm>
        </p:spPr>
        <p:txBody>
          <a:bodyPr>
            <a:normAutofit/>
          </a:bodyPr>
          <a:lstStyle/>
          <a:p>
            <a:pPr marL="0" indent="0">
              <a:buNone/>
            </a:pPr>
            <a:r>
              <a:rPr lang="en-IN" dirty="0"/>
              <a:t>
</a:t>
            </a:r>
            <a:endParaRPr lang="en-US" dirty="0"/>
          </a:p>
        </p:txBody>
      </p:sp>
      <p:sp>
        <p:nvSpPr>
          <p:cNvPr id="12" name="Rectangle 11">
            <a:extLst>
              <a:ext uri="{FF2B5EF4-FFF2-40B4-BE49-F238E27FC236}">
                <a16:creationId xmlns:a16="http://schemas.microsoft.com/office/drawing/2014/main" id="{4A4AB128-F9A0-4770-89C4-C8608AAB4D4F}"/>
              </a:ext>
            </a:extLst>
          </p:cNvPr>
          <p:cNvSpPr/>
          <p:nvPr/>
        </p:nvSpPr>
        <p:spPr>
          <a:xfrm>
            <a:off x="861392" y="816637"/>
            <a:ext cx="8136834" cy="5587107"/>
          </a:xfrm>
          <a:prstGeom prst="rect">
            <a:avLst/>
          </a:prstGeom>
        </p:spPr>
        <p:txBody>
          <a:bodyPr wrap="square">
            <a:spAutoFit/>
          </a:bodyPr>
          <a:lstStyle/>
          <a:p>
            <a:pPr>
              <a:lnSpc>
                <a:spcPct val="150000"/>
              </a:lnSpc>
              <a:buFont typeface="+mj-lt"/>
              <a:buAutoNum type="arabicPeriod"/>
            </a:pPr>
            <a:r>
              <a:rPr lang="en-US" sz="1600" b="1" dirty="0">
                <a:solidFill>
                  <a:srgbClr val="0D0D0D"/>
                </a:solidFill>
                <a:latin typeface="+mj-lt"/>
              </a:rPr>
              <a:t>Assessment and Recognition</a:t>
            </a:r>
            <a:r>
              <a:rPr lang="en-US" sz="1600" dirty="0">
                <a:solidFill>
                  <a:srgbClr val="0D0D0D"/>
                </a:solidFill>
                <a:latin typeface="+mj-lt"/>
              </a:rPr>
              <a:t>: Identify the nature and severity of the emergency. This could involve assessing injuries, determining the cause of the emergency, and evaluating potential risks.</a:t>
            </a:r>
          </a:p>
          <a:p>
            <a:pPr>
              <a:lnSpc>
                <a:spcPct val="150000"/>
              </a:lnSpc>
              <a:buFont typeface="+mj-lt"/>
              <a:buAutoNum type="arabicPeriod"/>
            </a:pPr>
            <a:r>
              <a:rPr lang="en-US" sz="1600" b="1" dirty="0">
                <a:solidFill>
                  <a:srgbClr val="0D0D0D"/>
                </a:solidFill>
                <a:latin typeface="+mj-lt"/>
              </a:rPr>
              <a:t>Notification</a:t>
            </a:r>
            <a:r>
              <a:rPr lang="en-US" sz="1600" dirty="0">
                <a:solidFill>
                  <a:srgbClr val="0D0D0D"/>
                </a:solidFill>
                <a:latin typeface="+mj-lt"/>
              </a:rPr>
              <a:t>: Alert relevant personnel, authorities, or emergency services about the situation. This may include contacting emergency services, notifying management, or activating an emergency alarm system.</a:t>
            </a:r>
          </a:p>
          <a:p>
            <a:pPr>
              <a:lnSpc>
                <a:spcPct val="150000"/>
              </a:lnSpc>
              <a:buFont typeface="+mj-lt"/>
              <a:buAutoNum type="arabicPeriod"/>
            </a:pPr>
            <a:r>
              <a:rPr lang="en-US" sz="1600" b="1" dirty="0">
                <a:solidFill>
                  <a:srgbClr val="0D0D0D"/>
                </a:solidFill>
                <a:latin typeface="+mj-lt"/>
              </a:rPr>
              <a:t>Evacuation or Shelter-in-Place</a:t>
            </a:r>
            <a:r>
              <a:rPr lang="en-US" sz="1600" dirty="0">
                <a:solidFill>
                  <a:srgbClr val="0D0D0D"/>
                </a:solidFill>
                <a:latin typeface="+mj-lt"/>
              </a:rPr>
              <a:t>: Depending on the type of emergency, evacuate the affected area or instruct individuals to seek shelter indoors. Evacuation routes and assembly points should be clearly marked and communicated.</a:t>
            </a:r>
          </a:p>
          <a:p>
            <a:pPr>
              <a:lnSpc>
                <a:spcPct val="150000"/>
              </a:lnSpc>
              <a:buFont typeface="+mj-lt"/>
              <a:buAutoNum type="arabicPeriod"/>
            </a:pPr>
            <a:r>
              <a:rPr lang="en-US" sz="1600" b="1" dirty="0">
                <a:solidFill>
                  <a:srgbClr val="0D0D0D"/>
                </a:solidFill>
                <a:latin typeface="+mj-lt"/>
              </a:rPr>
              <a:t>Communication</a:t>
            </a:r>
            <a:r>
              <a:rPr lang="en-US" sz="1600" dirty="0">
                <a:solidFill>
                  <a:srgbClr val="0D0D0D"/>
                </a:solidFill>
                <a:latin typeface="+mj-lt"/>
              </a:rPr>
              <a:t>: Maintain clear and consistent communication with all stakeholders, providing updates on the situation, instructions, and any necessary information.</a:t>
            </a:r>
          </a:p>
          <a:p>
            <a:pPr>
              <a:lnSpc>
                <a:spcPct val="150000"/>
              </a:lnSpc>
              <a:buFont typeface="+mj-lt"/>
              <a:buAutoNum type="arabicPeriod"/>
            </a:pPr>
            <a:r>
              <a:rPr lang="en-US" sz="1600" b="1" dirty="0">
                <a:solidFill>
                  <a:srgbClr val="0D0D0D"/>
                </a:solidFill>
                <a:latin typeface="+mj-lt"/>
              </a:rPr>
              <a:t>Response and Mitigation</a:t>
            </a:r>
            <a:r>
              <a:rPr lang="en-US" sz="1600" dirty="0">
                <a:solidFill>
                  <a:srgbClr val="0D0D0D"/>
                </a:solidFill>
                <a:latin typeface="+mj-lt"/>
              </a:rPr>
              <a:t>: Take immediate actions to mitigate the effects of the emergency. This could involve administering first aid, containing a fire, controlling a hazardous spill, or implementing security measures.</a:t>
            </a:r>
          </a:p>
        </p:txBody>
      </p:sp>
    </p:spTree>
    <p:extLst>
      <p:ext uri="{BB962C8B-B14F-4D97-AF65-F5344CB8AC3E}">
        <p14:creationId xmlns:p14="http://schemas.microsoft.com/office/powerpoint/2010/main" val="1404463946"/>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B9A47262-2F62-4A3D-96A5-95326BCDFAD9}"/>
              </a:ext>
            </a:extLst>
          </p:cNvPr>
          <p:cNvSpPr>
            <a:spLocks noChangeArrowheads="1"/>
          </p:cNvSpPr>
          <p:nvPr/>
        </p:nvSpPr>
        <p:spPr bwMode="auto">
          <a:xfrm>
            <a:off x="371060" y="-6641"/>
            <a:ext cx="9409043" cy="5124993"/>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mj-lt"/>
            </a:endParaRP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rgbClr val="000000"/>
                </a:solidFill>
                <a:effectLst/>
                <a:latin typeface="+mj-lt"/>
              </a:rPr>
              <a:t>6.Resource Allocation</a:t>
            </a:r>
            <a:r>
              <a:rPr kumimoji="0" lang="en-US" altLang="en-US" sz="1600" b="0" i="0" u="none" strike="noStrike" cap="none" normalizeH="0" baseline="0" dirty="0">
                <a:ln>
                  <a:noFill/>
                </a:ln>
                <a:solidFill>
                  <a:srgbClr val="000000"/>
                </a:solidFill>
                <a:effectLst/>
                <a:latin typeface="+mj-lt"/>
              </a:rPr>
              <a:t>: Allocate resources such as personnel, equipment, and supplies as needed to address the emergency effectively.</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rgbClr val="000000"/>
                </a:solidFill>
                <a:effectLst/>
                <a:latin typeface="+mj-lt"/>
              </a:rPr>
              <a:t>7.Documentation and Reporting</a:t>
            </a:r>
            <a:r>
              <a:rPr kumimoji="0" lang="en-US" altLang="en-US" sz="1600" b="0" i="0" u="none" strike="noStrike" cap="none" normalizeH="0" baseline="0" dirty="0">
                <a:ln>
                  <a:noFill/>
                </a:ln>
                <a:solidFill>
                  <a:srgbClr val="000000"/>
                </a:solidFill>
                <a:effectLst/>
                <a:latin typeface="+mj-lt"/>
              </a:rPr>
              <a:t>: Document all actions taken during the emergency, including any injuries, damages, or significant events. Reporting ensures that lessons can be learned and improvements can be made for future emergencies.</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rgbClr val="000000"/>
                </a:solidFill>
                <a:effectLst/>
                <a:latin typeface="+mj-lt"/>
              </a:rPr>
              <a:t>8.Recovery and Follow-Up</a:t>
            </a:r>
            <a:r>
              <a:rPr kumimoji="0" lang="en-US" altLang="en-US" sz="1600" b="0" i="0" u="none" strike="noStrike" cap="none" normalizeH="0" baseline="0" dirty="0">
                <a:ln>
                  <a:noFill/>
                </a:ln>
                <a:solidFill>
                  <a:srgbClr val="000000"/>
                </a:solidFill>
                <a:effectLst/>
                <a:latin typeface="+mj-lt"/>
              </a:rPr>
              <a:t>: Once the immediate threat has been addressed, initiate recovery efforts to restore normal operations. This may involve cleanup, repairs, debriefing sessions, and follow-up assessments to identify areas for improvement.</a:t>
            </a:r>
          </a:p>
          <a:p>
            <a:pPr marL="0" marR="0" lvl="0" indent="0" algn="l" defTabSz="914400" rtl="0" eaLnBrk="0" fontAlgn="base" latinLnBrk="0" hangingPunct="0">
              <a:lnSpc>
                <a:spcPct val="150000"/>
              </a:lnSpc>
              <a:spcBef>
                <a:spcPct val="0"/>
              </a:spcBef>
              <a:spcAft>
                <a:spcPct val="0"/>
              </a:spcAft>
              <a:buClrTx/>
              <a:buSzTx/>
              <a:tabLst/>
            </a:pPr>
            <a:r>
              <a:rPr kumimoji="0" lang="en-US" altLang="en-US" sz="1600" b="1" i="0" u="none" strike="noStrike" cap="none" normalizeH="0" baseline="0" dirty="0">
                <a:ln>
                  <a:noFill/>
                </a:ln>
                <a:solidFill>
                  <a:srgbClr val="000000"/>
                </a:solidFill>
                <a:effectLst/>
                <a:latin typeface="+mj-lt"/>
              </a:rPr>
              <a:t>9.Review and Update</a:t>
            </a:r>
            <a:r>
              <a:rPr kumimoji="0" lang="en-US" altLang="en-US" sz="1600" b="0" i="0" u="none" strike="noStrike" cap="none" normalizeH="0" baseline="0" dirty="0">
                <a:ln>
                  <a:noFill/>
                </a:ln>
                <a:solidFill>
                  <a:srgbClr val="000000"/>
                </a:solidFill>
                <a:effectLst/>
                <a:latin typeface="+mj-lt"/>
              </a:rPr>
              <a:t>: Regularly review and update emergency protocols based on lessons learned from drills, exercises, and real-life emergencies. Continuously improving protocols helps ensure readiness for future emergencies.</a:t>
            </a: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600" b="0" i="0" u="none" strike="noStrike" cap="none" normalizeH="0" baseline="0" dirty="0">
              <a:ln>
                <a:noFill/>
              </a:ln>
              <a:solidFill>
                <a:srgbClr val="000000"/>
              </a:solidFill>
              <a:effectLst/>
              <a:latin typeface="+mj-lt"/>
            </a:endParaRPr>
          </a:p>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mj-lt"/>
            </a:endParaRPr>
          </a:p>
        </p:txBody>
      </p:sp>
    </p:spTree>
    <p:extLst>
      <p:ext uri="{BB962C8B-B14F-4D97-AF65-F5344CB8AC3E}">
        <p14:creationId xmlns:p14="http://schemas.microsoft.com/office/powerpoint/2010/main" val="1184944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2ACEF0-E6FC-4E21-9BAF-3AB126BD5765}"/>
              </a:ext>
            </a:extLst>
          </p:cNvPr>
          <p:cNvSpPr>
            <a:spLocks noGrp="1"/>
          </p:cNvSpPr>
          <p:nvPr>
            <p:ph type="title"/>
          </p:nvPr>
        </p:nvSpPr>
        <p:spPr>
          <a:xfrm>
            <a:off x="677334" y="0"/>
            <a:ext cx="8596668" cy="1930400"/>
          </a:xfrm>
        </p:spPr>
        <p:txBody>
          <a:bodyPr>
            <a:normAutofit/>
          </a:bodyPr>
          <a:lstStyle/>
          <a:p>
            <a:r>
              <a:rPr lang="en-US" sz="2800" dirty="0">
                <a:solidFill>
                  <a:schemeClr val="accent5"/>
                </a:solidFill>
              </a:rPr>
              <a:t>PROPOSED:-</a:t>
            </a:r>
          </a:p>
        </p:txBody>
      </p:sp>
      <p:sp>
        <p:nvSpPr>
          <p:cNvPr id="5" name="Content Placeholder 4">
            <a:extLst>
              <a:ext uri="{FF2B5EF4-FFF2-40B4-BE49-F238E27FC236}">
                <a16:creationId xmlns:a16="http://schemas.microsoft.com/office/drawing/2014/main" id="{45D48D97-81F1-C84F-B1DA-7DC2DE42030F}"/>
              </a:ext>
            </a:extLst>
          </p:cNvPr>
          <p:cNvSpPr>
            <a:spLocks noGrp="1"/>
          </p:cNvSpPr>
          <p:nvPr>
            <p:ph idx="1"/>
          </p:nvPr>
        </p:nvSpPr>
        <p:spPr>
          <a:xfrm>
            <a:off x="677334" y="477078"/>
            <a:ext cx="8596668" cy="5855437"/>
          </a:xfrm>
        </p:spPr>
        <p:txBody>
          <a:bodyPr>
            <a:noAutofit/>
          </a:bodyPr>
          <a:lstStyle/>
          <a:p>
            <a:pPr marL="0" indent="0">
              <a:buNone/>
            </a:pPr>
            <a:r>
              <a:rPr lang="en-IN" sz="1600" dirty="0"/>
              <a:t>
1.Centralized Information Hub: The proposed system aims to create a centralized hub for information on major health issues and their associated symptoms, providing users with a comprehensive resource for emergency preparedness.
2.User-Centric Design: It prioritizes user experience by employing a user-centric design approach, ensuring that the website is intuitive, easy to navigate, and accessible across various devices for seamless access to critical information during emergencies.
3.Dynamic Content Management: The system will implement dynamic content management practices to ensure that information remains up-to-date and accurate, with regular updates based on the latest medical research and guidelines.
4.Interactive Features: Incorporating interactive features such as symptom checkers, first-aid guides, and emergency contact directories enhances user engagement and facilitates better decision-making during medical emergencies.
5.Multi-Modal Accessibility: The proposed system will prioritize accessibility by incorporating multi-modal features such as text-to-speech, language translation, and compatibility with assistive technologies to cater to users with diverse needs and preferences.
6.Community Engagement Tools: It will include community engagement tools such as forums, feedback forms, and social media integration to encourage user participation, foster a sense of community, and facilitate knowledge sharing and collaboration.
</a:t>
            </a:r>
            <a:endParaRPr lang="en-US" sz="1600" dirty="0"/>
          </a:p>
        </p:txBody>
      </p:sp>
    </p:spTree>
    <p:extLst>
      <p:ext uri="{BB962C8B-B14F-4D97-AF65-F5344CB8AC3E}">
        <p14:creationId xmlns:p14="http://schemas.microsoft.com/office/powerpoint/2010/main" val="396522713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15A3F-9604-4F8B-A9C9-1ADA0FCBC96D}"/>
              </a:ext>
            </a:extLst>
          </p:cNvPr>
          <p:cNvSpPr>
            <a:spLocks noGrp="1"/>
          </p:cNvSpPr>
          <p:nvPr>
            <p:ph type="title"/>
          </p:nvPr>
        </p:nvSpPr>
        <p:spPr>
          <a:xfrm>
            <a:off x="677334" y="0"/>
            <a:ext cx="8596668" cy="1930400"/>
          </a:xfrm>
        </p:spPr>
        <p:txBody>
          <a:bodyPr>
            <a:normAutofit/>
          </a:bodyPr>
          <a:lstStyle/>
          <a:p>
            <a:r>
              <a:rPr lang="en-US" sz="2800" dirty="0">
                <a:solidFill>
                  <a:schemeClr val="accent5"/>
                </a:solidFill>
              </a:rPr>
              <a:t>1.3 SCOPE OF PROJECT</a:t>
            </a:r>
            <a:br>
              <a:rPr lang="en-US" sz="2800" dirty="0">
                <a:solidFill>
                  <a:schemeClr val="accent5"/>
                </a:solidFill>
              </a:rPr>
            </a:br>
            <a:endParaRPr lang="en-US" sz="2800" dirty="0">
              <a:solidFill>
                <a:schemeClr val="accent5"/>
              </a:solidFill>
            </a:endParaRPr>
          </a:p>
        </p:txBody>
      </p:sp>
      <p:sp>
        <p:nvSpPr>
          <p:cNvPr id="5" name="Content Placeholder 4">
            <a:extLst>
              <a:ext uri="{FF2B5EF4-FFF2-40B4-BE49-F238E27FC236}">
                <a16:creationId xmlns:a16="http://schemas.microsoft.com/office/drawing/2014/main" id="{DEDAE803-8C7B-3F1B-44CA-F435B2F6C1DB}"/>
              </a:ext>
            </a:extLst>
          </p:cNvPr>
          <p:cNvSpPr>
            <a:spLocks noGrp="1"/>
          </p:cNvSpPr>
          <p:nvPr>
            <p:ph idx="1"/>
          </p:nvPr>
        </p:nvSpPr>
        <p:spPr>
          <a:xfrm>
            <a:off x="677334" y="463827"/>
            <a:ext cx="8596668" cy="5433390"/>
          </a:xfrm>
        </p:spPr>
        <p:txBody>
          <a:bodyPr>
            <a:noAutofit/>
          </a:bodyPr>
          <a:lstStyle/>
          <a:p>
            <a:pPr marL="0" indent="0">
              <a:lnSpc>
                <a:spcPct val="150000"/>
              </a:lnSpc>
              <a:buNone/>
            </a:pPr>
            <a:r>
              <a:rPr lang="en-IN" sz="1600" dirty="0">
                <a:latin typeface="+mj-lt"/>
              </a:rPr>
              <a:t>
1.Content Development: Creating comprehensive and accurate content covering major health issues, symptoms, and recommended actions during emergencies.
2.Website Development: Designing and developing a user-friendly website with intuitive navigation, interactive features, and multi-modal accessibility.
3.Content Management: Implementing dynamic content management practices to ensure timely updates and accuracy of information.
4.Community Engagement: Facilitating user engagement through forums, feedback mechanisms, and social media integration to foster a collaborative environment.
5.Integration with Emergency Response Systems: Collaborating with emergency response systems and healthcare providers to integrate the website with existing infrastructure for streamlined communication and coordinated responses.
</a:t>
            </a:r>
            <a:endParaRPr lang="en-US" sz="1600" dirty="0">
              <a:latin typeface="+mj-lt"/>
            </a:endParaRPr>
          </a:p>
        </p:txBody>
      </p:sp>
    </p:spTree>
    <p:extLst>
      <p:ext uri="{BB962C8B-B14F-4D97-AF65-F5344CB8AC3E}">
        <p14:creationId xmlns:p14="http://schemas.microsoft.com/office/powerpoint/2010/main" val="2648899748"/>
      </p:ext>
    </p:extLst>
  </p:cSld>
  <p:clrMapOvr>
    <a:masterClrMapping/>
  </p:clrMapOvr>
  <p:transition spd="slow">
    <p:cove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0F5DEC-2001-4303-A123-CAD672E2C636}"/>
              </a:ext>
            </a:extLst>
          </p:cNvPr>
          <p:cNvSpPr>
            <a:spLocks noGrp="1"/>
          </p:cNvSpPr>
          <p:nvPr>
            <p:ph type="body" idx="4294967295"/>
          </p:nvPr>
        </p:nvSpPr>
        <p:spPr>
          <a:xfrm>
            <a:off x="0" y="914400"/>
            <a:ext cx="8596313" cy="4473575"/>
          </a:xfrm>
        </p:spPr>
        <p:txBody>
          <a:bodyPr>
            <a:normAutofit/>
          </a:bodyPr>
          <a:lstStyle/>
          <a:p>
            <a:pPr>
              <a:lnSpc>
                <a:spcPct val="150000"/>
              </a:lnSpc>
            </a:pPr>
            <a:r>
              <a:rPr lang="en-IN" sz="1600" dirty="0"/>
              <a:t>6.Testing and Quality Assurance: Conducting rigorous testing and quality assurance procedures to ensure the functionality, performance, and security of the website
7.Launch and Deployment: Deploying the website to production environments and managing its ongoing operation, maintenance, and support.
8.Scalability and Future Enhancements: Planning for scalability and future enhancements to accommodate growth, evolving healthcare needs, and technological advancements. effectively utilize the website and maximize its benefits in emergency situations.
</a:t>
            </a:r>
            <a:endParaRPr lang="en-US" sz="1600" dirty="0"/>
          </a:p>
        </p:txBody>
      </p:sp>
    </p:spTree>
    <p:extLst>
      <p:ext uri="{BB962C8B-B14F-4D97-AF65-F5344CB8AC3E}">
        <p14:creationId xmlns:p14="http://schemas.microsoft.com/office/powerpoint/2010/main" val="608727340"/>
      </p:ext>
    </p:extLst>
  </p:cSld>
  <p:clrMapOvr>
    <a:masterClrMapping/>
  </p:clrMapOvr>
  <mc:AlternateContent xmlns:mc="http://schemas.openxmlformats.org/markup-compatibility/2006" xmlns:p14="http://schemas.microsoft.com/office/powerpoint/2010/main">
    <mc:Choice Requires="p14">
      <p:transition p14:dur="100">
        <p:cut/>
      </p:transition>
    </mc:Choice>
    <mc:Fallback xmlns="">
      <p:transition>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19021CF-FE47-4AB9-840B-675746681BB4}"/>
              </a:ext>
            </a:extLst>
          </p:cNvPr>
          <p:cNvSpPr>
            <a:spLocks noGrp="1"/>
          </p:cNvSpPr>
          <p:nvPr>
            <p:ph type="title"/>
          </p:nvPr>
        </p:nvSpPr>
        <p:spPr>
          <a:xfrm>
            <a:off x="677334" y="119270"/>
            <a:ext cx="8596668" cy="715617"/>
          </a:xfrm>
        </p:spPr>
        <p:txBody>
          <a:bodyPr>
            <a:normAutofit/>
          </a:bodyPr>
          <a:lstStyle/>
          <a:p>
            <a:r>
              <a:rPr lang="en-US" sz="2400" dirty="0">
                <a:solidFill>
                  <a:srgbClr val="C00000"/>
                </a:solidFill>
              </a:rPr>
              <a:t>DESGIN</a:t>
            </a:r>
          </a:p>
        </p:txBody>
      </p:sp>
      <p:sp>
        <p:nvSpPr>
          <p:cNvPr id="6" name="AutoShape 2" descr="Basic flow chart of emergency healthcare response system  ">
            <a:extLst>
              <a:ext uri="{FF2B5EF4-FFF2-40B4-BE49-F238E27FC236}">
                <a16:creationId xmlns:a16="http://schemas.microsoft.com/office/drawing/2014/main" id="{2708A3A9-FFAE-4F0B-8F3A-875D749726B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4108" name="Picture 12">
            <a:extLst>
              <a:ext uri="{FF2B5EF4-FFF2-40B4-BE49-F238E27FC236}">
                <a16:creationId xmlns:a16="http://schemas.microsoft.com/office/drawing/2014/main" id="{745ED508-4FDB-4146-B683-0902E3EA3913}"/>
              </a:ext>
            </a:extLst>
          </p:cNvPr>
          <p:cNvPicPr>
            <a:picLocks noChangeAspect="1" noChangeArrowheads="1"/>
          </p:cNvPicPr>
          <p:nvPr/>
        </p:nvPicPr>
        <p:blipFill>
          <a:blip r:embed="rId2"/>
          <a:stretch>
            <a:fillRect/>
          </a:stretch>
        </p:blipFill>
        <p:spPr bwMode="auto">
          <a:xfrm>
            <a:off x="3704550" y="543339"/>
            <a:ext cx="3605845" cy="61014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6369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22500-4426-416D-9759-55E7D1DE3202}"/>
              </a:ext>
            </a:extLst>
          </p:cNvPr>
          <p:cNvSpPr>
            <a:spLocks noGrp="1"/>
          </p:cNvSpPr>
          <p:nvPr>
            <p:ph type="title"/>
          </p:nvPr>
        </p:nvSpPr>
        <p:spPr>
          <a:xfrm>
            <a:off x="677334" y="145774"/>
            <a:ext cx="7565518" cy="768626"/>
          </a:xfrm>
        </p:spPr>
        <p:txBody>
          <a:bodyPr/>
          <a:lstStyle/>
          <a:p>
            <a:r>
              <a:rPr lang="en-US" sz="2800" dirty="0">
                <a:solidFill>
                  <a:schemeClr val="accent5"/>
                </a:solidFill>
              </a:rPr>
              <a:t>SOFTWARE</a:t>
            </a:r>
            <a:r>
              <a:rPr lang="en-US" dirty="0">
                <a:solidFill>
                  <a:schemeClr val="accent5"/>
                </a:solidFill>
              </a:rPr>
              <a:t> </a:t>
            </a:r>
            <a:r>
              <a:rPr lang="en-US" sz="2800" dirty="0">
                <a:solidFill>
                  <a:schemeClr val="accent5"/>
                </a:solidFill>
              </a:rPr>
              <a:t>REQUIREMENTS</a:t>
            </a:r>
          </a:p>
        </p:txBody>
      </p:sp>
      <p:sp>
        <p:nvSpPr>
          <p:cNvPr id="5" name="Content Placeholder 4">
            <a:extLst>
              <a:ext uri="{FF2B5EF4-FFF2-40B4-BE49-F238E27FC236}">
                <a16:creationId xmlns:a16="http://schemas.microsoft.com/office/drawing/2014/main" id="{E30C09C8-8075-A0A8-CC25-DDEA9CA70D9C}"/>
              </a:ext>
            </a:extLst>
          </p:cNvPr>
          <p:cNvSpPr>
            <a:spLocks noGrp="1"/>
          </p:cNvSpPr>
          <p:nvPr>
            <p:ph idx="1"/>
          </p:nvPr>
        </p:nvSpPr>
        <p:spPr>
          <a:xfrm>
            <a:off x="465299" y="914400"/>
            <a:ext cx="8572684" cy="5605670"/>
          </a:xfrm>
        </p:spPr>
        <p:txBody>
          <a:bodyPr>
            <a:noAutofit/>
          </a:bodyPr>
          <a:lstStyle/>
          <a:p>
            <a:pPr marL="0" indent="0">
              <a:lnSpc>
                <a:spcPct val="150000"/>
              </a:lnSpc>
              <a:buNone/>
            </a:pPr>
            <a:r>
              <a:rPr lang="en-IN" sz="1600" dirty="0">
                <a:latin typeface="+mj-lt"/>
              </a:rPr>
              <a:t>1.Content Management System (CMS): Implement a robust CMS to manage and update content efficiently, allowing contributors to add, edit, and publish information about health issues, symptoms, and emergency protocols.
2.Web Development Framework: Utilize a modern web development framework such as Django, Ruby on Rails, or Laravel to build a scalable and maintainable web application with a solid foundation.
3.Database Management System (DBMS): Choose a reliable DBMS like PostgreSQL, MySQL, or SQLite to store website content, user data, and other relevant information securely.
4.Version Control System: Use a version control system such as Git to manage changes to the website’s source code, enabling collaboration among developers and ensuring code integrity.
5.Security Measures: Implement security measures such as HTTPS encryption, input validation, and user authentication to protect user data and prevent unauthorized access to sensitive information.</a:t>
            </a:r>
            <a:endParaRPr lang="en-US" sz="1600" dirty="0">
              <a:latin typeface="+mj-lt"/>
            </a:endParaRPr>
          </a:p>
        </p:txBody>
      </p:sp>
    </p:spTree>
    <p:extLst>
      <p:ext uri="{BB962C8B-B14F-4D97-AF65-F5344CB8AC3E}">
        <p14:creationId xmlns:p14="http://schemas.microsoft.com/office/powerpoint/2010/main" val="14619167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4D4286-3230-4689-A1BE-BA8D9618116E}"/>
              </a:ext>
            </a:extLst>
          </p:cNvPr>
          <p:cNvSpPr>
            <a:spLocks noGrp="1"/>
          </p:cNvSpPr>
          <p:nvPr>
            <p:ph idx="4294967295"/>
          </p:nvPr>
        </p:nvSpPr>
        <p:spPr>
          <a:xfrm>
            <a:off x="0" y="0"/>
            <a:ext cx="8596313" cy="6145213"/>
          </a:xfrm>
        </p:spPr>
        <p:txBody>
          <a:bodyPr>
            <a:normAutofit/>
          </a:bodyPr>
          <a:lstStyle/>
          <a:p>
            <a:pPr marL="0" indent="0">
              <a:lnSpc>
                <a:spcPct val="150000"/>
              </a:lnSpc>
              <a:buNone/>
            </a:pPr>
            <a:r>
              <a:rPr lang="en-IN" sz="1600" dirty="0">
                <a:latin typeface="+mj-lt"/>
              </a:rPr>
              <a:t>6.Responsive Design: Ensure that the website is responsive and mobile-friendly, providing a seamless user experience across various devices and screen sizes.
7.Accessibility Compliance: Adhere to accessibility standards such as WCAG (Web Content Accessibility Guidelines) to make the website accessible to users with disabilities, including features like alt text for images and keyboard navigation.
8.Search Functionality: Incorporate a robust search functionality to allow users to quickly find relevant information based on keywords, symptoms, or health condition.
9.Documentation and Support: Provide comprehensive documentation and user support resources to help contributors understand the project structure, coding standards, and how to contribute effectively to the open-source communication</a:t>
            </a:r>
            <a:endParaRPr lang="en-US" sz="1600" dirty="0">
              <a:latin typeface="+mj-lt"/>
            </a:endParaRPr>
          </a:p>
        </p:txBody>
      </p:sp>
    </p:spTree>
    <p:extLst>
      <p:ext uri="{BB962C8B-B14F-4D97-AF65-F5344CB8AC3E}">
        <p14:creationId xmlns:p14="http://schemas.microsoft.com/office/powerpoint/2010/main" val="18107935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53B5B-DA1A-4DF6-B3DB-2F7304E03350}"/>
              </a:ext>
            </a:extLst>
          </p:cNvPr>
          <p:cNvSpPr>
            <a:spLocks noGrp="1"/>
          </p:cNvSpPr>
          <p:nvPr>
            <p:ph type="title"/>
          </p:nvPr>
        </p:nvSpPr>
        <p:spPr>
          <a:xfrm>
            <a:off x="677334" y="0"/>
            <a:ext cx="8596668" cy="689113"/>
          </a:xfrm>
        </p:spPr>
        <p:txBody>
          <a:bodyPr>
            <a:normAutofit/>
          </a:bodyPr>
          <a:lstStyle/>
          <a:p>
            <a:r>
              <a:rPr lang="en-US" dirty="0">
                <a:solidFill>
                  <a:schemeClr val="accent5"/>
                </a:solidFill>
              </a:rPr>
              <a:t>HARDWARE REQUIREMENTS</a:t>
            </a:r>
          </a:p>
        </p:txBody>
      </p:sp>
      <p:sp>
        <p:nvSpPr>
          <p:cNvPr id="7" name="Content Placeholder 6">
            <a:extLst>
              <a:ext uri="{FF2B5EF4-FFF2-40B4-BE49-F238E27FC236}">
                <a16:creationId xmlns:a16="http://schemas.microsoft.com/office/drawing/2014/main" id="{D2AA2AF5-556D-051B-BFBF-176D378CDA74}"/>
              </a:ext>
            </a:extLst>
          </p:cNvPr>
          <p:cNvSpPr>
            <a:spLocks noGrp="1"/>
          </p:cNvSpPr>
          <p:nvPr>
            <p:ph idx="1"/>
          </p:nvPr>
        </p:nvSpPr>
        <p:spPr>
          <a:xfrm>
            <a:off x="412290" y="198783"/>
            <a:ext cx="8956998" cy="6659217"/>
          </a:xfrm>
        </p:spPr>
        <p:txBody>
          <a:bodyPr>
            <a:noAutofit/>
          </a:bodyPr>
          <a:lstStyle/>
          <a:p>
            <a:pPr marL="0" indent="0">
              <a:lnSpc>
                <a:spcPct val="150000"/>
              </a:lnSpc>
              <a:buNone/>
            </a:pPr>
            <a:r>
              <a:rPr lang="en-IN" sz="1600" dirty="0"/>
              <a:t>
1.Web Server: You’ll need a web server to host your website and serve web pages to users. Common choices include Apache, Nginx, or Microsoft Internet Information Services (IIS).
2.Server Hardware: The hardware specifications for your server will depend on factors such as expected traffic volume, the complexity of your website, and any additional services or applications running on the server. Generally, you’ll need sufficient CPU, RAM, and storage resources to handle incoming requests and serve content efficiently.
3.Storage: Allocate enough storage space to store website files, database backups, and any other data associated with your website. Consider using solid-state drives (SSDs) for improved performance and reliability.
4.Backup System: Implement a backup system to regularly back up your website files and database to prevent data loss in case of hardware failures, software errors, or security breaches. You may need additional storage space for storing backups.
5.Networking Equipment: Ensure that you have reliable networking equipment such as routers, switches, and firewalls to establish and maintain network connectivity for your server. Consider factors such as bandwidth, latency, and network security requirements.
</a:t>
            </a:r>
            <a:endParaRPr lang="en-US" sz="1600" dirty="0"/>
          </a:p>
        </p:txBody>
      </p:sp>
    </p:spTree>
    <p:extLst>
      <p:ext uri="{BB962C8B-B14F-4D97-AF65-F5344CB8AC3E}">
        <p14:creationId xmlns:p14="http://schemas.microsoft.com/office/powerpoint/2010/main" val="4934618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D7E84-4BAE-4FD3-AFB8-A4A94AB2F4D1}"/>
              </a:ext>
            </a:extLst>
          </p:cNvPr>
          <p:cNvSpPr>
            <a:spLocks noGrp="1"/>
          </p:cNvSpPr>
          <p:nvPr>
            <p:ph type="title"/>
          </p:nvPr>
        </p:nvSpPr>
        <p:spPr/>
        <p:txBody>
          <a:bodyPr/>
          <a:lstStyle/>
          <a:p>
            <a:r>
              <a:rPr lang="en-US" dirty="0">
                <a:solidFill>
                  <a:schemeClr val="accent5"/>
                </a:solidFill>
              </a:rPr>
              <a:t>Sequence Diagram:-</a:t>
            </a:r>
          </a:p>
        </p:txBody>
      </p:sp>
      <p:pic>
        <p:nvPicPr>
          <p:cNvPr id="5" name="Content Placeholder 4">
            <a:extLst>
              <a:ext uri="{FF2B5EF4-FFF2-40B4-BE49-F238E27FC236}">
                <a16:creationId xmlns:a16="http://schemas.microsoft.com/office/drawing/2014/main" id="{1C7FEAA3-58D1-4B4F-9DC1-7541F36976D3}"/>
              </a:ext>
            </a:extLst>
          </p:cNvPr>
          <p:cNvPicPr>
            <a:picLocks noGrp="1" noChangeAspect="1"/>
          </p:cNvPicPr>
          <p:nvPr>
            <p:ph idx="1"/>
          </p:nvPr>
        </p:nvPicPr>
        <p:blipFill>
          <a:blip r:embed="rId2"/>
          <a:stretch>
            <a:fillRect/>
          </a:stretch>
        </p:blipFill>
        <p:spPr>
          <a:xfrm>
            <a:off x="677863" y="2133600"/>
            <a:ext cx="8596312" cy="3120571"/>
          </a:xfrm>
        </p:spPr>
      </p:pic>
    </p:spTree>
    <p:extLst>
      <p:ext uri="{BB962C8B-B14F-4D97-AF65-F5344CB8AC3E}">
        <p14:creationId xmlns:p14="http://schemas.microsoft.com/office/powerpoint/2010/main" val="219204264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013B4-F25A-4EF6-9801-DD1DD76CCC4F}"/>
              </a:ext>
            </a:extLst>
          </p:cNvPr>
          <p:cNvSpPr>
            <a:spLocks noGrp="1"/>
          </p:cNvSpPr>
          <p:nvPr>
            <p:ph type="title"/>
          </p:nvPr>
        </p:nvSpPr>
        <p:spPr/>
        <p:txBody>
          <a:bodyPr>
            <a:normAutofit/>
          </a:bodyPr>
          <a:lstStyle/>
          <a:p>
            <a:r>
              <a:rPr lang="en-US" sz="4400" dirty="0" err="1">
                <a:solidFill>
                  <a:schemeClr val="accent5"/>
                </a:solidFill>
              </a:rPr>
              <a:t>Usecase</a:t>
            </a:r>
            <a:r>
              <a:rPr lang="en-US" sz="4400" dirty="0">
                <a:solidFill>
                  <a:schemeClr val="accent5"/>
                </a:solidFill>
              </a:rPr>
              <a:t> diagram:-</a:t>
            </a:r>
          </a:p>
        </p:txBody>
      </p:sp>
      <p:pic>
        <p:nvPicPr>
          <p:cNvPr id="5" name="Content Placeholder 4">
            <a:extLst>
              <a:ext uri="{FF2B5EF4-FFF2-40B4-BE49-F238E27FC236}">
                <a16:creationId xmlns:a16="http://schemas.microsoft.com/office/drawing/2014/main" id="{03B6C75A-A840-41EA-AA19-915A92BC8B6A}"/>
              </a:ext>
            </a:extLst>
          </p:cNvPr>
          <p:cNvPicPr>
            <a:picLocks noGrp="1" noChangeAspect="1"/>
          </p:cNvPicPr>
          <p:nvPr>
            <p:ph idx="1"/>
          </p:nvPr>
        </p:nvPicPr>
        <p:blipFill>
          <a:blip r:embed="rId2"/>
          <a:stretch>
            <a:fillRect/>
          </a:stretch>
        </p:blipFill>
        <p:spPr>
          <a:xfrm>
            <a:off x="2061029" y="2235202"/>
            <a:ext cx="6807200" cy="3499190"/>
          </a:xfrm>
        </p:spPr>
      </p:pic>
    </p:spTree>
    <p:extLst>
      <p:ext uri="{BB962C8B-B14F-4D97-AF65-F5344CB8AC3E}">
        <p14:creationId xmlns:p14="http://schemas.microsoft.com/office/powerpoint/2010/main" val="34933899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0D720-3812-4BB3-BAF6-FA3A02CC7DCF}"/>
              </a:ext>
            </a:extLst>
          </p:cNvPr>
          <p:cNvSpPr>
            <a:spLocks noGrp="1"/>
          </p:cNvSpPr>
          <p:nvPr>
            <p:ph type="title"/>
          </p:nvPr>
        </p:nvSpPr>
        <p:spPr/>
        <p:txBody>
          <a:bodyPr/>
          <a:lstStyle/>
          <a:p>
            <a:r>
              <a:rPr lang="en-US" dirty="0">
                <a:solidFill>
                  <a:schemeClr val="accent5"/>
                </a:solidFill>
              </a:rPr>
              <a:t>Class diagram:-</a:t>
            </a:r>
          </a:p>
        </p:txBody>
      </p:sp>
      <p:pic>
        <p:nvPicPr>
          <p:cNvPr id="5" name="Content Placeholder 4">
            <a:extLst>
              <a:ext uri="{FF2B5EF4-FFF2-40B4-BE49-F238E27FC236}">
                <a16:creationId xmlns:a16="http://schemas.microsoft.com/office/drawing/2014/main" id="{7F35302C-230F-49F0-8273-8467747EC8DE}"/>
              </a:ext>
            </a:extLst>
          </p:cNvPr>
          <p:cNvPicPr>
            <a:picLocks noGrp="1" noChangeAspect="1"/>
          </p:cNvPicPr>
          <p:nvPr>
            <p:ph idx="1"/>
          </p:nvPr>
        </p:nvPicPr>
        <p:blipFill>
          <a:blip r:embed="rId2"/>
          <a:stretch>
            <a:fillRect/>
          </a:stretch>
        </p:blipFill>
        <p:spPr>
          <a:xfrm>
            <a:off x="1828800" y="2423886"/>
            <a:ext cx="6241143" cy="2503715"/>
          </a:xfrm>
        </p:spPr>
      </p:pic>
    </p:spTree>
    <p:extLst>
      <p:ext uri="{BB962C8B-B14F-4D97-AF65-F5344CB8AC3E}">
        <p14:creationId xmlns:p14="http://schemas.microsoft.com/office/powerpoint/2010/main" val="21089240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0E2CF6-13E4-4429-BCBA-6424CD3D02C2}"/>
              </a:ext>
            </a:extLst>
          </p:cNvPr>
          <p:cNvSpPr>
            <a:spLocks noGrp="1"/>
          </p:cNvSpPr>
          <p:nvPr>
            <p:ph type="title"/>
          </p:nvPr>
        </p:nvSpPr>
        <p:spPr>
          <a:xfrm>
            <a:off x="677334" y="0"/>
            <a:ext cx="8596668" cy="1930400"/>
          </a:xfrm>
        </p:spPr>
        <p:txBody>
          <a:bodyPr/>
          <a:lstStyle/>
          <a:p>
            <a:r>
              <a:rPr lang="en-US" dirty="0">
                <a:solidFill>
                  <a:schemeClr val="accent5"/>
                </a:solidFill>
              </a:rPr>
              <a:t>HTML CODE:-</a:t>
            </a:r>
          </a:p>
        </p:txBody>
      </p:sp>
      <p:pic>
        <p:nvPicPr>
          <p:cNvPr id="5" name="Content Placeholder 4">
            <a:extLst>
              <a:ext uri="{FF2B5EF4-FFF2-40B4-BE49-F238E27FC236}">
                <a16:creationId xmlns:a16="http://schemas.microsoft.com/office/drawing/2014/main" id="{ABCF861B-9E48-45CC-99A2-DB59C4E8D13C}"/>
              </a:ext>
            </a:extLst>
          </p:cNvPr>
          <p:cNvPicPr>
            <a:picLocks noGrp="1" noChangeAspect="1"/>
          </p:cNvPicPr>
          <p:nvPr>
            <p:ph idx="1"/>
          </p:nvPr>
        </p:nvPicPr>
        <p:blipFill>
          <a:blip r:embed="rId2"/>
          <a:stretch>
            <a:fillRect/>
          </a:stretch>
        </p:blipFill>
        <p:spPr>
          <a:xfrm>
            <a:off x="510106" y="965200"/>
            <a:ext cx="8931123" cy="5457372"/>
          </a:xfrm>
        </p:spPr>
      </p:pic>
    </p:spTree>
    <p:extLst>
      <p:ext uri="{BB962C8B-B14F-4D97-AF65-F5344CB8AC3E}">
        <p14:creationId xmlns:p14="http://schemas.microsoft.com/office/powerpoint/2010/main" val="33859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CF3FF8-194A-44D8-8F6F-BC8E48D7395D}"/>
              </a:ext>
            </a:extLst>
          </p:cNvPr>
          <p:cNvSpPr>
            <a:spLocks noGrp="1"/>
          </p:cNvSpPr>
          <p:nvPr>
            <p:ph type="title"/>
          </p:nvPr>
        </p:nvSpPr>
        <p:spPr>
          <a:xfrm>
            <a:off x="677334" y="275772"/>
            <a:ext cx="8596668" cy="812800"/>
          </a:xfrm>
        </p:spPr>
        <p:txBody>
          <a:bodyPr/>
          <a:lstStyle/>
          <a:p>
            <a:r>
              <a:rPr lang="en-US" dirty="0">
                <a:solidFill>
                  <a:schemeClr val="accent5"/>
                </a:solidFill>
              </a:rPr>
              <a:t>JAVA SCRIPT:-</a:t>
            </a:r>
          </a:p>
        </p:txBody>
      </p:sp>
      <p:pic>
        <p:nvPicPr>
          <p:cNvPr id="4" name="Picture 3">
            <a:extLst>
              <a:ext uri="{FF2B5EF4-FFF2-40B4-BE49-F238E27FC236}">
                <a16:creationId xmlns:a16="http://schemas.microsoft.com/office/drawing/2014/main" id="{3AB84231-7796-46BB-9D4A-5C71E17F6959}"/>
              </a:ext>
            </a:extLst>
          </p:cNvPr>
          <p:cNvPicPr>
            <a:picLocks noChangeAspect="1"/>
          </p:cNvPicPr>
          <p:nvPr/>
        </p:nvPicPr>
        <p:blipFill>
          <a:blip r:embed="rId2"/>
          <a:stretch>
            <a:fillRect/>
          </a:stretch>
        </p:blipFill>
        <p:spPr>
          <a:xfrm>
            <a:off x="677335" y="1088572"/>
            <a:ext cx="8596668" cy="5210627"/>
          </a:xfrm>
          <a:prstGeom prst="rect">
            <a:avLst/>
          </a:prstGeom>
        </p:spPr>
      </p:pic>
    </p:spTree>
    <p:extLst>
      <p:ext uri="{BB962C8B-B14F-4D97-AF65-F5344CB8AC3E}">
        <p14:creationId xmlns:p14="http://schemas.microsoft.com/office/powerpoint/2010/main" val="34667072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1DC07F1D-9FE7-4E36-A12E-387B449AA5C9}"/>
              </a:ext>
            </a:extLst>
          </p:cNvPr>
          <p:cNvPicPr>
            <a:picLocks noChangeAspect="1"/>
          </p:cNvPicPr>
          <p:nvPr/>
        </p:nvPicPr>
        <p:blipFill>
          <a:blip r:embed="rId2"/>
          <a:stretch>
            <a:fillRect/>
          </a:stretch>
        </p:blipFill>
        <p:spPr>
          <a:xfrm>
            <a:off x="348344" y="333829"/>
            <a:ext cx="9622970" cy="5740400"/>
          </a:xfrm>
          <a:prstGeom prst="rect">
            <a:avLst/>
          </a:prstGeom>
        </p:spPr>
      </p:pic>
    </p:spTree>
    <p:extLst>
      <p:ext uri="{BB962C8B-B14F-4D97-AF65-F5344CB8AC3E}">
        <p14:creationId xmlns:p14="http://schemas.microsoft.com/office/powerpoint/2010/main" val="495979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A1DE3DD-D64B-4D2B-884F-61E26A489E7D}"/>
              </a:ext>
            </a:extLst>
          </p:cNvPr>
          <p:cNvPicPr>
            <a:picLocks noChangeAspect="1"/>
          </p:cNvPicPr>
          <p:nvPr/>
        </p:nvPicPr>
        <p:blipFill>
          <a:blip r:embed="rId2"/>
          <a:stretch>
            <a:fillRect/>
          </a:stretch>
        </p:blipFill>
        <p:spPr>
          <a:xfrm>
            <a:off x="440859" y="594776"/>
            <a:ext cx="9916909" cy="5668447"/>
          </a:xfrm>
          <a:prstGeom prst="rect">
            <a:avLst/>
          </a:prstGeom>
        </p:spPr>
      </p:pic>
    </p:spTree>
    <p:extLst>
      <p:ext uri="{BB962C8B-B14F-4D97-AF65-F5344CB8AC3E}">
        <p14:creationId xmlns:p14="http://schemas.microsoft.com/office/powerpoint/2010/main" val="9950996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AF9E928-457E-481F-A37C-9144B333EAAB}"/>
              </a:ext>
            </a:extLst>
          </p:cNvPr>
          <p:cNvPicPr>
            <a:picLocks noChangeAspect="1"/>
          </p:cNvPicPr>
          <p:nvPr/>
        </p:nvPicPr>
        <p:blipFill>
          <a:blip r:embed="rId2"/>
          <a:stretch>
            <a:fillRect/>
          </a:stretch>
        </p:blipFill>
        <p:spPr>
          <a:xfrm>
            <a:off x="558183" y="480601"/>
            <a:ext cx="8840434" cy="5896798"/>
          </a:xfrm>
          <a:prstGeom prst="rect">
            <a:avLst/>
          </a:prstGeom>
        </p:spPr>
      </p:pic>
    </p:spTree>
    <p:extLst>
      <p:ext uri="{BB962C8B-B14F-4D97-AF65-F5344CB8AC3E}">
        <p14:creationId xmlns:p14="http://schemas.microsoft.com/office/powerpoint/2010/main" val="910223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3A37BD85-5866-4A86-A7C6-5D5596E63CCD}"/>
              </a:ext>
            </a:extLst>
          </p:cNvPr>
          <p:cNvPicPr>
            <a:picLocks noGrp="1" noChangeAspect="1"/>
          </p:cNvPicPr>
          <p:nvPr>
            <p:ph sz="half" idx="4294967295"/>
          </p:nvPr>
        </p:nvPicPr>
        <p:blipFill>
          <a:blip r:embed="rId2"/>
          <a:stretch>
            <a:fillRect/>
          </a:stretch>
        </p:blipFill>
        <p:spPr>
          <a:xfrm>
            <a:off x="0" y="1176338"/>
            <a:ext cx="4183063" cy="4287837"/>
          </a:xfrm>
        </p:spPr>
      </p:pic>
      <p:pic>
        <p:nvPicPr>
          <p:cNvPr id="8" name="Content Placeholder 7">
            <a:extLst>
              <a:ext uri="{FF2B5EF4-FFF2-40B4-BE49-F238E27FC236}">
                <a16:creationId xmlns:a16="http://schemas.microsoft.com/office/drawing/2014/main" id="{BA986B2B-7F52-4D45-AFF4-88E8FB51903B}"/>
              </a:ext>
            </a:extLst>
          </p:cNvPr>
          <p:cNvPicPr>
            <a:picLocks noGrp="1" noChangeAspect="1"/>
          </p:cNvPicPr>
          <p:nvPr>
            <p:ph sz="half" idx="4294967295"/>
          </p:nvPr>
        </p:nvPicPr>
        <p:blipFill>
          <a:blip r:embed="rId3"/>
          <a:stretch>
            <a:fillRect/>
          </a:stretch>
        </p:blipFill>
        <p:spPr>
          <a:xfrm>
            <a:off x="8007350" y="1176338"/>
            <a:ext cx="4184650" cy="4287837"/>
          </a:xfrm>
        </p:spPr>
      </p:pic>
    </p:spTree>
    <p:extLst>
      <p:ext uri="{BB962C8B-B14F-4D97-AF65-F5344CB8AC3E}">
        <p14:creationId xmlns:p14="http://schemas.microsoft.com/office/powerpoint/2010/main" val="258053551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794DAD-8FDC-434D-83EF-5D7CE7591E8B}"/>
              </a:ext>
            </a:extLst>
          </p:cNvPr>
          <p:cNvSpPr>
            <a:spLocks noGrp="1"/>
          </p:cNvSpPr>
          <p:nvPr>
            <p:ph type="title"/>
          </p:nvPr>
        </p:nvSpPr>
        <p:spPr/>
        <p:txBody>
          <a:bodyPr/>
          <a:lstStyle/>
          <a:p>
            <a:r>
              <a:rPr lang="en-US" dirty="0">
                <a:solidFill>
                  <a:schemeClr val="accent5"/>
                </a:solidFill>
              </a:rPr>
              <a:t>CSS :-</a:t>
            </a:r>
          </a:p>
        </p:txBody>
      </p:sp>
      <p:pic>
        <p:nvPicPr>
          <p:cNvPr id="4" name="Picture 3">
            <a:extLst>
              <a:ext uri="{FF2B5EF4-FFF2-40B4-BE49-F238E27FC236}">
                <a16:creationId xmlns:a16="http://schemas.microsoft.com/office/drawing/2014/main" id="{63D2DC31-AB85-4332-977A-76789E7F96BB}"/>
              </a:ext>
            </a:extLst>
          </p:cNvPr>
          <p:cNvPicPr>
            <a:picLocks noChangeAspect="1"/>
          </p:cNvPicPr>
          <p:nvPr/>
        </p:nvPicPr>
        <p:blipFill>
          <a:blip r:embed="rId2"/>
          <a:stretch>
            <a:fillRect/>
          </a:stretch>
        </p:blipFill>
        <p:spPr>
          <a:xfrm>
            <a:off x="1594712" y="1422400"/>
            <a:ext cx="7144747" cy="5026179"/>
          </a:xfrm>
          <a:prstGeom prst="rect">
            <a:avLst/>
          </a:prstGeom>
        </p:spPr>
      </p:pic>
    </p:spTree>
    <p:extLst>
      <p:ext uri="{BB962C8B-B14F-4D97-AF65-F5344CB8AC3E}">
        <p14:creationId xmlns:p14="http://schemas.microsoft.com/office/powerpoint/2010/main" val="402048380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98CE72-C649-4285-8D06-6AAD9E29AFA0}"/>
              </a:ext>
            </a:extLst>
          </p:cNvPr>
          <p:cNvPicPr>
            <a:picLocks noChangeAspect="1"/>
          </p:cNvPicPr>
          <p:nvPr/>
        </p:nvPicPr>
        <p:blipFill>
          <a:blip r:embed="rId2"/>
          <a:stretch>
            <a:fillRect/>
          </a:stretch>
        </p:blipFill>
        <p:spPr>
          <a:xfrm>
            <a:off x="474232" y="391886"/>
            <a:ext cx="6163535" cy="4252685"/>
          </a:xfrm>
          <a:prstGeom prst="rect">
            <a:avLst/>
          </a:prstGeom>
        </p:spPr>
      </p:pic>
      <p:pic>
        <p:nvPicPr>
          <p:cNvPr id="5" name="Picture 4">
            <a:extLst>
              <a:ext uri="{FF2B5EF4-FFF2-40B4-BE49-F238E27FC236}">
                <a16:creationId xmlns:a16="http://schemas.microsoft.com/office/drawing/2014/main" id="{B4D7B6C5-4C8C-4DA8-B988-DDE9D155E900}"/>
              </a:ext>
            </a:extLst>
          </p:cNvPr>
          <p:cNvPicPr>
            <a:picLocks noChangeAspect="1"/>
          </p:cNvPicPr>
          <p:nvPr/>
        </p:nvPicPr>
        <p:blipFill>
          <a:blip r:embed="rId3"/>
          <a:stretch>
            <a:fillRect/>
          </a:stretch>
        </p:blipFill>
        <p:spPr>
          <a:xfrm>
            <a:off x="474232" y="4644571"/>
            <a:ext cx="6163534" cy="1611086"/>
          </a:xfrm>
          <a:prstGeom prst="rect">
            <a:avLst/>
          </a:prstGeom>
        </p:spPr>
      </p:pic>
    </p:spTree>
    <p:extLst>
      <p:ext uri="{BB962C8B-B14F-4D97-AF65-F5344CB8AC3E}">
        <p14:creationId xmlns:p14="http://schemas.microsoft.com/office/powerpoint/2010/main" val="7927883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9865C6F-40BA-4C9E-80BB-C5F3F29301A4}"/>
              </a:ext>
            </a:extLst>
          </p:cNvPr>
          <p:cNvSpPr>
            <a:spLocks noGrp="1"/>
          </p:cNvSpPr>
          <p:nvPr>
            <p:ph type="title"/>
          </p:nvPr>
        </p:nvSpPr>
        <p:spPr>
          <a:xfrm>
            <a:off x="677335" y="1814286"/>
            <a:ext cx="8596668" cy="2017485"/>
          </a:xfrm>
        </p:spPr>
        <p:txBody>
          <a:bodyPr/>
          <a:lstStyle/>
          <a:p>
            <a:r>
              <a:rPr lang="en-US" dirty="0">
                <a:solidFill>
                  <a:schemeClr val="accent5"/>
                </a:solidFill>
                <a:latin typeface="Algerian" panose="04020705040A02060702" pitchFamily="82" charset="0"/>
              </a:rPr>
              <a:t>                    </a:t>
            </a:r>
            <a:r>
              <a:rPr lang="en-US" sz="5400" dirty="0">
                <a:solidFill>
                  <a:schemeClr val="accent5"/>
                </a:solidFill>
                <a:latin typeface="Algerian" panose="04020705040A02060702" pitchFamily="82" charset="0"/>
              </a:rPr>
              <a:t>THANK YOU</a:t>
            </a:r>
          </a:p>
        </p:txBody>
      </p:sp>
      <p:sp>
        <p:nvSpPr>
          <p:cNvPr id="6" name="Text Placeholder 5">
            <a:extLst>
              <a:ext uri="{FF2B5EF4-FFF2-40B4-BE49-F238E27FC236}">
                <a16:creationId xmlns:a16="http://schemas.microsoft.com/office/drawing/2014/main" id="{84FFE53F-3A61-41A7-9B48-27C8C7D2C9CB}"/>
              </a:ext>
            </a:extLst>
          </p:cNvPr>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04834842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Facet</Template>
  <TotalTime>392</TotalTime>
  <Words>1668</Words>
  <Application>Microsoft Office PowerPoint</Application>
  <PresentationFormat>Widescreen</PresentationFormat>
  <Paragraphs>38</Paragraphs>
  <Slides>24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Algerian</vt:lpstr>
      <vt:lpstr>Arial</vt:lpstr>
      <vt:lpstr>Times New Roman</vt:lpstr>
      <vt:lpstr>Trebuchet MS</vt:lpstr>
      <vt:lpstr>Wingdings 3</vt:lpstr>
      <vt:lpstr>Facet</vt:lpstr>
      <vt:lpstr>EMERGENCY PROTOCOL</vt:lpstr>
      <vt:lpstr>INTRODUCTION…. 1.1PURPOSE AND OBJECTIVES</vt:lpstr>
      <vt:lpstr>OBJECTIVES </vt:lpstr>
      <vt:lpstr>1.2 EXISTING AND PROPOSED SYSTEM EXISTING:-</vt:lpstr>
      <vt:lpstr>PowerPoint Presentation</vt:lpstr>
      <vt:lpstr>PROPOSED:-</vt:lpstr>
      <vt:lpstr>1.3 SCOPE OF PROJECT </vt:lpstr>
      <vt:lpstr>PowerPoint Presentation</vt:lpstr>
      <vt:lpstr>DESGIN</vt:lpstr>
      <vt:lpstr>SOFTWARE REQUIREMENTS</vt:lpstr>
      <vt:lpstr>PowerPoint Presentation</vt:lpstr>
      <vt:lpstr>HARDWARE REQUIREMENTS</vt:lpstr>
      <vt:lpstr>Sequence Diagram:-</vt:lpstr>
      <vt:lpstr>Usecase diagram:-</vt:lpstr>
      <vt:lpstr>Class diagram:-</vt:lpstr>
      <vt:lpstr>HTML CODE:-</vt:lpstr>
      <vt:lpstr>JAVA SCRIPT:-</vt:lpstr>
      <vt:lpstr>PowerPoint Presentation</vt:lpstr>
      <vt:lpstr>PowerPoint Presentation</vt:lpstr>
      <vt:lpstr>PowerPoint Presentation</vt:lpstr>
      <vt:lpstr>PowerPoint Presentation</vt:lpstr>
      <vt:lpstr>CSS :-</vt:lpstr>
      <vt:lpstr>PowerPoint Presentation</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 Navigation System</dc:title>
  <dc:creator>22N31A0511</dc:creator>
  <cp:lastModifiedBy>22N31A0511</cp:lastModifiedBy>
  <cp:revision>40</cp:revision>
  <dcterms:created xsi:type="dcterms:W3CDTF">2024-02-15T14:30:49Z</dcterms:created>
  <dcterms:modified xsi:type="dcterms:W3CDTF">2024-05-03T04:50:40Z</dcterms:modified>
</cp:coreProperties>
</file>