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2" r:id="rId8"/>
    <p:sldId id="263" r:id="rId9"/>
    <p:sldId id="264" r:id="rId10"/>
    <p:sldId id="265" r:id="rId11"/>
    <p:sldId id="279" r:id="rId12"/>
    <p:sldId id="280" r:id="rId13"/>
    <p:sldId id="281" r:id="rId14"/>
    <p:sldId id="282" r:id="rId15"/>
    <p:sldId id="283" r:id="rId16"/>
    <p:sldId id="278" r:id="rId17"/>
  </p:sldIdLst>
  <p:sldSz cx="9753600" cy="7315200"/>
  <p:notesSz cx="6858000" cy="9144000"/>
  <p:embeddedFontLst>
    <p:embeddedFont>
      <p:font typeface="Calibri (MS) Bold" panose="020F0702030404030204"/>
      <p:bold r:id="rId21"/>
    </p:embeddedFont>
    <p:embeddedFont>
      <p:font typeface="Calibri (MS) Italics" panose="020F05020202040A0204"/>
      <p:italic r:id="rId22"/>
    </p:embeddedFont>
    <p:embeddedFont>
      <p:font typeface="Calibri" panose="020F0502020204030204"/>
      <p:regular r:id="rId23"/>
      <p:bold r:id="rId24"/>
      <p:italic r:id="rId25"/>
      <p:boldItalic r:id="rId26"/>
    </p:embeddedFont>
    <p:embeddedFont>
      <p:font typeface="Calibri (MS)" panose="020F050202020403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p:scale>
          <a:sx n="60" d="100"/>
          <a:sy n="60" d="100"/>
        </p:scale>
        <p:origin x="-1982" y="-470"/>
      </p:cViewPr>
      <p:guideLst>
        <p:guide orient="horz" pos="2160"/>
        <p:guide pos="2851"/>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35719"/>
            <a:ext cx="7129367" cy="696199"/>
            <a:chOff x="0" y="-47626"/>
            <a:chExt cx="9505823" cy="928266"/>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6"/>
              <a:ext cx="9505792" cy="928266"/>
            </a:xfrm>
            <a:prstGeom prst="rect">
              <a:avLst/>
            </a:prstGeom>
          </p:spPr>
          <p:txBody>
            <a:bodyPr lIns="50800" tIns="50800" rIns="50800" bIns="50800" rtlCol="0" anchor="ctr"/>
            <a:lstStyle/>
            <a:p>
              <a:pPr algn="ctr">
                <a:lnSpc>
                  <a:spcPts val="2305"/>
                </a:lnSpc>
              </a:pPr>
              <a:r>
                <a:rPr lang="en-US" sz="1900" b="1" dirty="0">
                  <a:solidFill>
                    <a:srgbClr val="FFFFFF"/>
                  </a:solidFill>
                  <a:latin typeface="Calibri (MS) Bold" panose="020F0702030404030204"/>
                  <a:ea typeface="Calibri (MS) Bold" panose="020F0702030404030204"/>
                  <a:cs typeface="Calibri (MS) Bold" panose="020F0702030404030204"/>
                  <a:sym typeface="Calibri (MS) Bold" panose="020F0702030404030204"/>
                </a:rPr>
                <a:t> IV Year – II Sem| Project Development Phase – II | Project Review </a:t>
              </a:r>
              <a:endParaRPr lang="en-US" sz="1900" b="1" dirty="0">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a:grpSpLocks noChangeAspect="1"/>
          </p:cNvGrpSpPr>
          <p:nvPr/>
        </p:nvGrpSpPr>
        <p:grpSpPr>
          <a:xfrm>
            <a:off x="8119680" y="2626176"/>
            <a:ext cx="1352832" cy="1356672"/>
            <a:chOff x="0" y="0"/>
            <a:chExt cx="1803776" cy="1808896"/>
          </a:xfrm>
        </p:grpSpPr>
        <p:sp>
          <p:nvSpPr>
            <p:cNvPr id="17" name="Freeform 17"/>
            <p:cNvSpPr/>
            <p:nvPr/>
          </p:nvSpPr>
          <p:spPr>
            <a:xfrm>
              <a:off x="0" y="0"/>
              <a:ext cx="1803781" cy="1808861"/>
            </a:xfrm>
            <a:custGeom>
              <a:avLst/>
              <a:gdLst/>
              <a:ahLst/>
              <a:cxnLst/>
              <a:rect l="l" t="t" r="r" b="b"/>
              <a:pathLst>
                <a:path w="1803781" h="1808861">
                  <a:moveTo>
                    <a:pt x="0" y="0"/>
                  </a:moveTo>
                  <a:lnTo>
                    <a:pt x="1803781" y="0"/>
                  </a:lnTo>
                  <a:lnTo>
                    <a:pt x="1803781" y="1808861"/>
                  </a:lnTo>
                  <a:lnTo>
                    <a:pt x="0" y="1808861"/>
                  </a:lnTo>
                  <a:lnTo>
                    <a:pt x="0" y="0"/>
                  </a:lnTo>
                  <a:close/>
                </a:path>
              </a:pathLst>
            </a:custGeom>
            <a:blipFill>
              <a:blip r:embed="rId3" cstate="print"/>
              <a:stretch>
                <a:fillRect t="-21" b="-23"/>
              </a:stretch>
            </a:blipFill>
          </p:spPr>
        </p:sp>
      </p:grpSp>
      <p:grpSp>
        <p:nvGrpSpPr>
          <p:cNvPr id="18" name="Group 18"/>
          <p:cNvGrpSpPr/>
          <p:nvPr/>
        </p:nvGrpSpPr>
        <p:grpSpPr>
          <a:xfrm>
            <a:off x="1034112" y="1352832"/>
            <a:ext cx="7862400" cy="770294"/>
            <a:chOff x="0" y="0"/>
            <a:chExt cx="10483200" cy="1027059"/>
          </a:xfrm>
        </p:grpSpPr>
        <p:sp>
          <p:nvSpPr>
            <p:cNvPr id="19" name="Freeform 19"/>
            <p:cNvSpPr/>
            <p:nvPr/>
          </p:nvSpPr>
          <p:spPr>
            <a:xfrm>
              <a:off x="0" y="0"/>
              <a:ext cx="10483200" cy="1027059"/>
            </a:xfrm>
            <a:custGeom>
              <a:avLst/>
              <a:gdLst/>
              <a:ahLst/>
              <a:cxnLst/>
              <a:rect l="l" t="t" r="r" b="b"/>
              <a:pathLst>
                <a:path w="10483200" h="1027059">
                  <a:moveTo>
                    <a:pt x="0" y="0"/>
                  </a:moveTo>
                  <a:lnTo>
                    <a:pt x="10483200" y="0"/>
                  </a:lnTo>
                  <a:lnTo>
                    <a:pt x="10483200" y="1027059"/>
                  </a:lnTo>
                  <a:lnTo>
                    <a:pt x="0" y="1027059"/>
                  </a:lnTo>
                  <a:close/>
                </a:path>
              </a:pathLst>
            </a:custGeom>
            <a:solidFill>
              <a:srgbClr val="000000">
                <a:alpha val="0"/>
              </a:srgbClr>
            </a:solidFill>
          </p:spPr>
        </p:sp>
        <p:sp>
          <p:nvSpPr>
            <p:cNvPr id="20" name="TextBox 20"/>
            <p:cNvSpPr txBox="1"/>
            <p:nvPr/>
          </p:nvSpPr>
          <p:spPr>
            <a:xfrm>
              <a:off x="0" y="-85725"/>
              <a:ext cx="10483200" cy="1112784"/>
            </a:xfrm>
            <a:prstGeom prst="rect">
              <a:avLst/>
            </a:prstGeom>
          </p:spPr>
          <p:txBody>
            <a:bodyPr lIns="0" tIns="0" rIns="0" bIns="0" rtlCol="0" anchor="ctr"/>
            <a:lstStyle/>
            <a:p>
              <a:pPr algn="ctr">
                <a:lnSpc>
                  <a:spcPts val="4610"/>
                </a:lnSpc>
              </a:pPr>
              <a:r>
                <a:rPr lang="en-IN" sz="4000" b="1" dirty="0" smtClean="0"/>
                <a:t>HOUSE PRICE PREDICTION </a:t>
              </a:r>
              <a:endParaRPr lang="en-US" sz="3840" b="1" dirty="0">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1" name="Group 21"/>
          <p:cNvGrpSpPr/>
          <p:nvPr/>
        </p:nvGrpSpPr>
        <p:grpSpPr>
          <a:xfrm>
            <a:off x="1203840" y="4809216"/>
            <a:ext cx="7759104" cy="1764480"/>
            <a:chOff x="0" y="0"/>
            <a:chExt cx="10345472" cy="2352640"/>
          </a:xfrm>
        </p:grpSpPr>
        <p:sp>
          <p:nvSpPr>
            <p:cNvPr id="22" name="Freeform 22"/>
            <p:cNvSpPr/>
            <p:nvPr/>
          </p:nvSpPr>
          <p:spPr>
            <a:xfrm>
              <a:off x="0" y="0"/>
              <a:ext cx="10345472" cy="2352640"/>
            </a:xfrm>
            <a:custGeom>
              <a:avLst/>
              <a:gdLst/>
              <a:ahLst/>
              <a:cxnLst/>
              <a:rect l="l" t="t" r="r" b="b"/>
              <a:pathLst>
                <a:path w="10345472" h="2352640">
                  <a:moveTo>
                    <a:pt x="0" y="0"/>
                  </a:moveTo>
                  <a:lnTo>
                    <a:pt x="10345472" y="0"/>
                  </a:lnTo>
                  <a:lnTo>
                    <a:pt x="10345472" y="2352640"/>
                  </a:lnTo>
                  <a:lnTo>
                    <a:pt x="0" y="2352640"/>
                  </a:lnTo>
                  <a:close/>
                </a:path>
              </a:pathLst>
            </a:custGeom>
            <a:solidFill>
              <a:srgbClr val="000000">
                <a:alpha val="0"/>
              </a:srgbClr>
            </a:solidFill>
          </p:spPr>
        </p:sp>
        <p:sp>
          <p:nvSpPr>
            <p:cNvPr id="23" name="TextBox 23"/>
            <p:cNvSpPr txBox="1"/>
            <p:nvPr/>
          </p:nvSpPr>
          <p:spPr>
            <a:xfrm>
              <a:off x="0" y="-28575"/>
              <a:ext cx="10345472" cy="2381215"/>
            </a:xfrm>
            <a:prstGeom prst="rect">
              <a:avLst/>
            </a:prstGeom>
          </p:spPr>
          <p:txBody>
            <a:bodyPr lIns="0" tIns="0" rIns="0" bIns="0" rtlCol="0" anchor="ctr"/>
            <a:lstStyle/>
            <a:p>
              <a:pPr algn="ctr">
                <a:lnSpc>
                  <a:spcPts val="2305"/>
                </a:lnSpc>
              </a:pPr>
              <a:r>
                <a:rPr lang="en-US" sz="2100" i="1" dirty="0">
                  <a:solidFill>
                    <a:srgbClr val="000000"/>
                  </a:solidFill>
                  <a:latin typeface="Calibri (MS) Italics" panose="020F05020202040A0204"/>
                  <a:ea typeface="Calibri (MS) Italics" panose="020F05020202040A0204"/>
                  <a:cs typeface="Calibri (MS) Italics" panose="020F05020202040A0204"/>
                  <a:sym typeface="Calibri (MS) Italics" panose="020F05020202040A0204"/>
                </a:rPr>
                <a:t>Under the guidance of </a:t>
              </a:r>
              <a:endParaRPr lang="en-IN" sz="2000" b="1" dirty="0">
                <a:solidFill>
                  <a:srgbClr val="C00000"/>
                </a:solidFill>
              </a:endParaRPr>
            </a:p>
            <a:p>
              <a:pPr marL="457200" indent="-457200" algn="ctr">
                <a:lnSpc>
                  <a:spcPts val="2305"/>
                </a:lnSpc>
                <a:buAutoNum type="alphaUcPeriod"/>
              </a:pPr>
              <a:r>
                <a:rPr lang="en-IN" sz="2000" b="1" dirty="0" smtClean="0">
                  <a:solidFill>
                    <a:srgbClr val="C00000"/>
                  </a:solidFill>
                </a:rPr>
                <a:t>SUSHMITHA</a:t>
              </a:r>
              <a:endParaRPr lang="en-IN" sz="2000" b="1" dirty="0" smtClean="0">
                <a:solidFill>
                  <a:srgbClr val="C00000"/>
                </a:solidFill>
              </a:endParaRPr>
            </a:p>
            <a:p>
              <a:pPr marL="457200" indent="-457200" algn="ctr">
                <a:lnSpc>
                  <a:spcPts val="2305"/>
                </a:lnSpc>
              </a:pPr>
              <a:r>
                <a:rPr lang="en-IN" sz="2000" b="1" dirty="0" smtClean="0">
                  <a:solidFill>
                    <a:srgbClr val="C00000"/>
                  </a:solidFill>
                  <a:ea typeface="Calibri" panose="020F0502020204030204"/>
                  <a:cs typeface="Calibri" panose="020F0502020204030204"/>
                </a:rPr>
                <a:t>ASSISTANT PROFESSOR</a:t>
              </a:r>
              <a:endParaRPr lang="en-IN" sz="2000" b="1" dirty="0">
                <a:solidFill>
                  <a:srgbClr val="C00000"/>
                </a:solidFill>
                <a:ea typeface="Calibri" panose="020F0502020204030204"/>
                <a:cs typeface="Calibri" panose="020F0502020204030204"/>
              </a:endParaRPr>
            </a:p>
            <a:p>
              <a:pPr algn="ctr">
                <a:lnSpc>
                  <a:spcPts val="2305"/>
                </a:lnSpc>
              </a:pPr>
              <a:r>
                <a:rPr lang="en-US" sz="2100" b="1" dirty="0">
                  <a:solidFill>
                    <a:srgbClr val="002060"/>
                  </a:solidFill>
                  <a:latin typeface="Calibri (MS) Bold" panose="020F0702030404030204"/>
                  <a:ea typeface="Calibri (MS) Bold" panose="020F0702030404030204"/>
                  <a:cs typeface="Calibri (MS) Bold" panose="020F0702030404030204"/>
                  <a:sym typeface="Calibri (MS) Bold" panose="020F0702030404030204"/>
                </a:rPr>
                <a:t>School of Emerging Technologies (CSE-Data Science/Cyber Security) </a:t>
              </a:r>
              <a:endParaRPr lang="en-US" sz="2100" b="1" dirty="0">
                <a:solidFill>
                  <a:srgbClr val="002060"/>
                </a:solidFill>
                <a:latin typeface="Calibri (MS) Bold" panose="020F0702030404030204"/>
                <a:ea typeface="Calibri (MS) Bold" panose="020F0702030404030204"/>
                <a:cs typeface="Calibri (MS) Bold" panose="020F0702030404030204"/>
              </a:endParaRPr>
            </a:p>
            <a:p>
              <a:pPr algn="ctr">
                <a:lnSpc>
                  <a:spcPts val="2995"/>
                </a:lnSpc>
              </a:pPr>
              <a:r>
                <a:rPr lang="en-US" sz="2775" b="1" dirty="0">
                  <a:solidFill>
                    <a:srgbClr val="C00000"/>
                  </a:solidFill>
                  <a:latin typeface="Calibri (MS) Bold" panose="020F0702030404030204"/>
                  <a:ea typeface="Calibri (MS) Bold" panose="020F0702030404030204"/>
                  <a:cs typeface="Calibri (MS) Bold" panose="020F0702030404030204"/>
                  <a:sym typeface="Calibri (MS) Bold" panose="020F0702030404030204"/>
                </a:rPr>
                <a:t>Malla Reddy College of Engineering &amp; Technology</a:t>
              </a:r>
              <a:endParaRPr lang="en-US" sz="2775" b="1" dirty="0">
                <a:solidFill>
                  <a:srgbClr val="C00000"/>
                </a:solidFill>
                <a:latin typeface="Calibri (MS) Bold" panose="020F0702030404030204"/>
                <a:ea typeface="Calibri (MS) Bold" panose="020F0702030404030204"/>
                <a:cs typeface="Calibri (MS) Bold" panose="020F0702030404030204"/>
                <a:sym typeface="Calibri (MS) Bold" panose="020F0702030404030204"/>
              </a:endParaRPr>
            </a:p>
            <a:p>
              <a:pPr algn="ctr">
                <a:lnSpc>
                  <a:spcPts val="1845"/>
                </a:lnSpc>
              </a:pPr>
              <a:r>
                <a:rPr lang="en-US" sz="1705" b="1" dirty="0">
                  <a:solidFill>
                    <a:srgbClr val="002060"/>
                  </a:solidFill>
                  <a:latin typeface="Calibri (MS) Bold" panose="020F0702030404030204"/>
                  <a:ea typeface="Calibri (MS) Bold" panose="020F0702030404030204"/>
                  <a:cs typeface="Calibri (MS) Bold" panose="020F0702030404030204"/>
                  <a:sym typeface="Calibri (MS) Bold" panose="020F0702030404030204"/>
                </a:rPr>
                <a:t>(UGC Autonomous Institution – Govt. of India)</a:t>
              </a:r>
              <a:endParaRPr lang="en-US" sz="1705" b="1" dirty="0">
                <a:solidFill>
                  <a:srgbClr val="00206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4" name="Group 24"/>
          <p:cNvGrpSpPr/>
          <p:nvPr/>
        </p:nvGrpSpPr>
        <p:grpSpPr>
          <a:xfrm>
            <a:off x="1749120" y="2550144"/>
            <a:ext cx="6360192" cy="1879519"/>
            <a:chOff x="0" y="0"/>
            <a:chExt cx="8480256" cy="2506025"/>
          </a:xfrm>
        </p:grpSpPr>
        <p:sp>
          <p:nvSpPr>
            <p:cNvPr id="25" name="Freeform 25"/>
            <p:cNvSpPr/>
            <p:nvPr/>
          </p:nvSpPr>
          <p:spPr>
            <a:xfrm>
              <a:off x="0" y="0"/>
              <a:ext cx="8480256" cy="2506025"/>
            </a:xfrm>
            <a:custGeom>
              <a:avLst/>
              <a:gdLst/>
              <a:ahLst/>
              <a:cxnLst/>
              <a:rect l="l" t="t" r="r" b="b"/>
              <a:pathLst>
                <a:path w="8480256" h="2506025">
                  <a:moveTo>
                    <a:pt x="0" y="0"/>
                  </a:moveTo>
                  <a:lnTo>
                    <a:pt x="8480256" y="0"/>
                  </a:lnTo>
                  <a:lnTo>
                    <a:pt x="8480256" y="2506025"/>
                  </a:lnTo>
                  <a:lnTo>
                    <a:pt x="0" y="2506025"/>
                  </a:lnTo>
                  <a:close/>
                </a:path>
              </a:pathLst>
            </a:custGeom>
            <a:solidFill>
              <a:srgbClr val="000000">
                <a:alpha val="0"/>
              </a:srgbClr>
            </a:solidFill>
          </p:spPr>
        </p:sp>
        <p:sp>
          <p:nvSpPr>
            <p:cNvPr id="26" name="TextBox 26"/>
            <p:cNvSpPr txBox="1"/>
            <p:nvPr/>
          </p:nvSpPr>
          <p:spPr>
            <a:xfrm>
              <a:off x="0" y="-19050"/>
              <a:ext cx="8480256" cy="2525075"/>
            </a:xfrm>
            <a:prstGeom prst="rect">
              <a:avLst/>
            </a:prstGeom>
          </p:spPr>
          <p:txBody>
            <a:bodyPr lIns="0" tIns="0" rIns="0" bIns="0" rtlCol="0" anchor="ctr"/>
            <a:lstStyle/>
            <a:p>
              <a:pPr algn="ctr">
                <a:lnSpc>
                  <a:spcPts val="2765"/>
                </a:lnSpc>
              </a:pPr>
              <a:r>
                <a:rPr lang="en-US" sz="2550" b="1" dirty="0">
                  <a:solidFill>
                    <a:srgbClr val="C00000"/>
                  </a:solidFill>
                  <a:latin typeface="Calibri (MS) Bold" panose="020F0702030404030204"/>
                  <a:ea typeface="Calibri (MS) Bold" panose="020F0702030404030204"/>
                  <a:cs typeface="Calibri (MS) Bold" panose="020F0702030404030204"/>
                  <a:sym typeface="Calibri (MS) Bold" panose="020F0702030404030204"/>
                </a:rPr>
                <a:t>Batch </a:t>
              </a:r>
              <a:r>
                <a:rPr lang="en-US" sz="2550" b="1" dirty="0" smtClean="0">
                  <a:solidFill>
                    <a:srgbClr val="C00000"/>
                  </a:solidFill>
                  <a:latin typeface="Calibri (MS) Bold" panose="020F0702030404030204"/>
                  <a:ea typeface="Calibri (MS) Bold" panose="020F0702030404030204"/>
                  <a:cs typeface="Calibri (MS) Bold" panose="020F0702030404030204"/>
                  <a:sym typeface="Calibri (MS) Bold" panose="020F0702030404030204"/>
                </a:rPr>
                <a:t>Details</a:t>
              </a:r>
              <a:endParaRPr lang="en-US" sz="2550" b="1" dirty="0" smtClean="0">
                <a:solidFill>
                  <a:srgbClr val="C00000"/>
                </a:solidFill>
                <a:latin typeface="Calibri (MS) Bold" panose="020F0702030404030204"/>
                <a:ea typeface="Calibri (MS) Bold" panose="020F0702030404030204"/>
                <a:cs typeface="Calibri (MS) Bold" panose="020F0702030404030204"/>
                <a:sym typeface="Calibri (MS) Bold" panose="020F0702030404030204"/>
              </a:endParaRPr>
            </a:p>
            <a:p>
              <a:pPr algn="ctr">
                <a:lnSpc>
                  <a:spcPts val="2765"/>
                </a:lnSpc>
              </a:pPr>
              <a:r>
                <a:rPr lang="en-US" sz="2550" b="1" dirty="0" smtClean="0">
                  <a:latin typeface="Calibri (MS) Bold" panose="020F0702030404030204"/>
                  <a:cs typeface="Calibri (MS) Bold" panose="020F0702030404030204"/>
                  <a:sym typeface="Calibri (MS) Bold" panose="020F0702030404030204"/>
                </a:rPr>
                <a:t>1. </a:t>
              </a:r>
              <a:r>
                <a:rPr lang="en-IN" sz="2400" b="1" dirty="0" smtClean="0"/>
                <a:t>P. CHAITANYA PRIYA   22N31A67D1</a:t>
              </a:r>
              <a:endParaRPr lang="en-IN" dirty="0"/>
            </a:p>
            <a:p>
              <a:pPr algn="ctr"/>
              <a:r>
                <a:rPr lang="en-IN" sz="2400" dirty="0" smtClean="0">
                  <a:latin typeface="Arial" panose="020B0604020202020204"/>
                  <a:cs typeface="Arial" panose="020B0604020202020204"/>
                </a:rPr>
                <a:t>2.</a:t>
              </a:r>
              <a:r>
                <a:rPr lang="en-IN" sz="2400" b="1" dirty="0" smtClean="0"/>
                <a:t>P. VISHWA PRAGNAN  22N31A67D0</a:t>
              </a:r>
              <a:endParaRPr lang="en-IN" dirty="0"/>
            </a:p>
            <a:p>
              <a:pPr algn="ctr"/>
              <a:r>
                <a:rPr lang="en-IN" sz="2400" dirty="0" smtClean="0">
                  <a:latin typeface="Arial" panose="020B0604020202020204"/>
                  <a:cs typeface="Arial" panose="020B0604020202020204"/>
                </a:rPr>
                <a:t>3.</a:t>
              </a:r>
              <a:r>
                <a:rPr lang="en-IN" sz="2400" b="1" dirty="0" smtClean="0"/>
                <a:t>K. VARDHAN                  22N31A6787</a:t>
              </a:r>
              <a:endParaRPr lang="en-IN" dirty="0"/>
            </a:p>
            <a:p>
              <a:pPr algn="ctr">
                <a:lnSpc>
                  <a:spcPts val="2765"/>
                </a:lnSpc>
              </a:pPr>
              <a:endParaRPr lang="en-IN" altLang="en-US" sz="2800" b="1" dirty="0">
                <a:ea typeface="Calibri" panose="020F0502020204030204"/>
                <a:cs typeface="Calibri" panose="020F0502020204030204"/>
              </a:endParaRPr>
            </a:p>
            <a:p>
              <a:pPr algn="ctr">
                <a:lnSpc>
                  <a:spcPts val="2765"/>
                </a:lnSpc>
              </a:pPr>
              <a:endParaRPr lang="en-US" sz="2560" b="1" dirty="0">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7" name="Group 27"/>
          <p:cNvGrpSpPr>
            <a:grpSpLocks noChangeAspect="1"/>
          </p:cNvGrpSpPr>
          <p:nvPr/>
        </p:nvGrpSpPr>
        <p:grpSpPr>
          <a:xfrm>
            <a:off x="345600" y="2446848"/>
            <a:ext cx="1715328" cy="1715328"/>
            <a:chOff x="0" y="0"/>
            <a:chExt cx="2287104" cy="2287104"/>
          </a:xfrm>
        </p:grpSpPr>
        <p:sp>
          <p:nvSpPr>
            <p:cNvPr id="28" name="Freeform 28"/>
            <p:cNvSpPr/>
            <p:nvPr/>
          </p:nvSpPr>
          <p:spPr>
            <a:xfrm>
              <a:off x="0" y="0"/>
              <a:ext cx="2287143" cy="2287143"/>
            </a:xfrm>
            <a:custGeom>
              <a:avLst/>
              <a:gdLst/>
              <a:ahLst/>
              <a:cxnLst/>
              <a:rect l="l" t="t" r="r" b="b"/>
              <a:pathLst>
                <a:path w="2287143" h="2287143">
                  <a:moveTo>
                    <a:pt x="0" y="0"/>
                  </a:moveTo>
                  <a:lnTo>
                    <a:pt x="2287143" y="0"/>
                  </a:lnTo>
                  <a:lnTo>
                    <a:pt x="2287143" y="2287143"/>
                  </a:lnTo>
                  <a:lnTo>
                    <a:pt x="0" y="2287143"/>
                  </a:lnTo>
                  <a:lnTo>
                    <a:pt x="0" y="0"/>
                  </a:lnTo>
                  <a:close/>
                </a:path>
              </a:pathLst>
            </a:custGeom>
            <a:blipFill>
              <a:blip r:embed="rId4" cstate="print"/>
              <a:stretch>
                <a:fillRect r="1" b="1"/>
              </a:stretch>
            </a:blipFill>
          </p:spPr>
        </p:sp>
      </p:grpSp>
      <p:grpSp>
        <p:nvGrpSpPr>
          <p:cNvPr id="29" name="Group 29"/>
          <p:cNvGrpSpPr/>
          <p:nvPr/>
        </p:nvGrpSpPr>
        <p:grpSpPr>
          <a:xfrm>
            <a:off x="1173504" y="738432"/>
            <a:ext cx="7758720" cy="614400"/>
            <a:chOff x="0" y="0"/>
            <a:chExt cx="10344960" cy="819200"/>
          </a:xfrm>
        </p:grpSpPr>
        <p:sp>
          <p:nvSpPr>
            <p:cNvPr id="30" name="Freeform 30"/>
            <p:cNvSpPr/>
            <p:nvPr/>
          </p:nvSpPr>
          <p:spPr>
            <a:xfrm>
              <a:off x="0" y="0"/>
              <a:ext cx="10344960" cy="819200"/>
            </a:xfrm>
            <a:custGeom>
              <a:avLst/>
              <a:gdLst/>
              <a:ahLst/>
              <a:cxnLst/>
              <a:rect l="l" t="t" r="r" b="b"/>
              <a:pathLst>
                <a:path w="10344960" h="819200">
                  <a:moveTo>
                    <a:pt x="0" y="0"/>
                  </a:moveTo>
                  <a:lnTo>
                    <a:pt x="10344960" y="0"/>
                  </a:lnTo>
                  <a:lnTo>
                    <a:pt x="10344960" y="819200"/>
                  </a:lnTo>
                  <a:lnTo>
                    <a:pt x="0" y="819200"/>
                  </a:lnTo>
                  <a:close/>
                </a:path>
              </a:pathLst>
            </a:custGeom>
            <a:solidFill>
              <a:srgbClr val="000000">
                <a:alpha val="0"/>
              </a:srgbClr>
            </a:solidFill>
          </p:spPr>
        </p:sp>
        <p:sp>
          <p:nvSpPr>
            <p:cNvPr id="31" name="TextBox 31"/>
            <p:cNvSpPr txBox="1"/>
            <p:nvPr/>
          </p:nvSpPr>
          <p:spPr>
            <a:xfrm>
              <a:off x="0" y="-47625"/>
              <a:ext cx="10344960" cy="866825"/>
            </a:xfrm>
            <a:prstGeom prst="rect">
              <a:avLst/>
            </a:prstGeom>
          </p:spPr>
          <p:txBody>
            <a:bodyPr lIns="0" tIns="0" rIns="0" bIns="0" rtlCol="0" anchor="ctr"/>
            <a:lstStyle/>
            <a:p>
              <a:pPr algn="ctr">
                <a:lnSpc>
                  <a:spcPts val="2560"/>
                </a:lnSpc>
              </a:pPr>
              <a:r>
                <a:rPr lang="en-US" sz="2100" b="1" dirty="0">
                  <a:solidFill>
                    <a:srgbClr val="C00000"/>
                  </a:solidFill>
                  <a:latin typeface="Calibri (MS) Bold" panose="020F0702030404030204"/>
                  <a:ea typeface="Calibri (MS) Bold" panose="020F0702030404030204"/>
                  <a:cs typeface="Calibri (MS) Bold" panose="020F0702030404030204"/>
                  <a:sym typeface="Calibri (MS) Bold" panose="020F0702030404030204"/>
                </a:rPr>
                <a:t>IV Year – II Sem </a:t>
              </a:r>
              <a:r>
                <a:rPr lang="en-US" sz="2100" b="1" dirty="0" err="1">
                  <a:solidFill>
                    <a:srgbClr val="C00000"/>
                  </a:solidFill>
                  <a:latin typeface="Calibri (MS) Bold" panose="020F0702030404030204"/>
                  <a:ea typeface="Calibri (MS) Bold" panose="020F0702030404030204"/>
                  <a:cs typeface="Calibri (MS) Bold" panose="020F0702030404030204"/>
                  <a:sym typeface="Calibri (MS) Bold" panose="020F0702030404030204"/>
                </a:rPr>
                <a:t>B.Tech</a:t>
              </a:r>
              <a:r>
                <a:rPr lang="en-US" sz="2100" b="1" dirty="0">
                  <a:solidFill>
                    <a:srgbClr val="C00000"/>
                  </a:solidFill>
                  <a:latin typeface="Calibri (MS) Bold" panose="020F0702030404030204"/>
                  <a:ea typeface="Calibri (MS) Bold" panose="020F0702030404030204"/>
                  <a:cs typeface="Calibri (MS) Bold" panose="020F0702030404030204"/>
                  <a:sym typeface="Calibri (MS) Bold" panose="020F0702030404030204"/>
                </a:rPr>
                <a:t> Project Development II (PD-II) Project Review </a:t>
              </a:r>
              <a:endParaRPr lang="en-US" sz="2100" b="1" dirty="0">
                <a:solidFill>
                  <a:srgbClr val="C00000"/>
                </a:solidFill>
                <a:latin typeface="Calibri (MS) Bold" panose="020F0702030404030204"/>
                <a:ea typeface="Calibri (MS) Bold" panose="020F0702030404030204"/>
                <a:cs typeface="Calibri (MS) Bold" panose="020F0702030404030204"/>
                <a:sym typeface="Calibri (MS) Bold" panose="020F0702030404030204"/>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1900" b="1" dirty="0">
                  <a:solidFill>
                    <a:srgbClr val="FFFFFF"/>
                  </a:solidFill>
                  <a:ea typeface="+mn-lt"/>
                  <a:cs typeface="+mn-lt"/>
                  <a:sym typeface="Calibri (MS) Bold" panose="020F0702030404030204"/>
                </a:rPr>
                <a:t>IV Year – II Sem| Project Development Phase – II | Project Review </a:t>
              </a:r>
              <a:endParaRPr lang="en-US" sz="1900" dirty="0">
                <a:solidFill>
                  <a:srgbClr val="000000"/>
                </a:solidFill>
                <a:ea typeface="+mn-lt"/>
                <a:cs typeface="+mn-lt"/>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609600"/>
            <a:ext cx="8778240" cy="716185"/>
            <a:chOff x="0" y="-124007"/>
            <a:chExt cx="11704320" cy="1052263"/>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124007"/>
              <a:ext cx="11704320" cy="1052263"/>
            </a:xfrm>
            <a:prstGeom prst="rect">
              <a:avLst/>
            </a:prstGeom>
          </p:spPr>
          <p:txBody>
            <a:bodyPr lIns="0" tIns="0" rIns="0" bIns="0" rtlCol="0" anchor="ctr"/>
            <a:lstStyle/>
            <a:p>
              <a:pPr algn="ctr">
                <a:lnSpc>
                  <a:spcPts val="4610"/>
                </a:lnSpc>
              </a:pPr>
              <a:r>
                <a:rPr lang="en-US" sz="3840" b="1" dirty="0">
                  <a:solidFill>
                    <a:srgbClr val="FF0000"/>
                  </a:solidFill>
                  <a:latin typeface="Calibri (MS) Bold" panose="020F0702030404030204"/>
                  <a:ea typeface="Calibri (MS) Bold" panose="020F0702030404030204"/>
                  <a:cs typeface="Calibri (MS) Bold" panose="020F0702030404030204"/>
                  <a:sym typeface="Calibri (MS) Bold" panose="020F0702030404030204"/>
                </a:rPr>
                <a:t>Abstract</a:t>
              </a:r>
              <a:endParaRPr lang="en-US" sz="3840" b="1" dirty="0">
                <a:solidFill>
                  <a:srgbClr val="FF0000"/>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19" name="Rectangle 18"/>
          <p:cNvSpPr/>
          <p:nvPr/>
        </p:nvSpPr>
        <p:spPr>
          <a:xfrm>
            <a:off x="304800" y="1447800"/>
            <a:ext cx="9144000" cy="4821769"/>
          </a:xfrm>
          <a:prstGeom prst="rect">
            <a:avLst/>
          </a:prstGeom>
        </p:spPr>
        <p:txBody>
          <a:bodyPr wrap="square">
            <a:spAutoFit/>
          </a:bodyPr>
          <a:lstStyle/>
          <a:p>
            <a:pPr algn="just">
              <a:lnSpc>
                <a:spcPct val="150000"/>
              </a:lnSpc>
            </a:pPr>
            <a:r>
              <a:rPr lang="en-US" sz="2600" dirty="0" smtClean="0">
                <a:latin typeface="Times New Roman" panose="02020603050405020304" pitchFamily="18" charset="0"/>
                <a:cs typeface="Times New Roman" panose="02020603050405020304" pitchFamily="18" charset="0"/>
              </a:rPr>
              <a:t>Our project “House Price Prediction” is used to predict the price of a house based on important details like location, area, number of rooms, and other features. In this project, machine learning techniques are used to analyze past house data and find patterns in prices. The system takes user input and predicts an estimated house price. This helps buyers, sellers, and investors to understand the correct value of a house and make better decisions. The project is easy to use, accurate, and helpful in the real- estate field.</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1900" b="1" dirty="0">
                  <a:solidFill>
                    <a:srgbClr val="FFFFFF"/>
                  </a:solidFill>
                  <a:latin typeface="Calibri" panose="020F0502020204030204"/>
                  <a:ea typeface="Calibri" panose="020F0502020204030204"/>
                  <a:cs typeface="Calibri" panose="020F0502020204030204"/>
                  <a:sym typeface="Calibri (MS) Bold" panose="020F0702030404030204"/>
                </a:rPr>
                <a:t>IV Year – II Sem| Project Development Phase – II | Project Review </a:t>
              </a:r>
              <a:endParaRPr lang="en-US" sz="1900" dirty="0">
                <a:solidFill>
                  <a:srgbClr val="000000"/>
                </a:solidFill>
                <a:latin typeface="Calibri" panose="020F0502020204030204"/>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815616"/>
            <a:ext cx="8778240" cy="696192"/>
            <a:chOff x="0" y="0"/>
            <a:chExt cx="11704320" cy="928256"/>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85725"/>
              <a:ext cx="11704320" cy="1013981"/>
            </a:xfrm>
            <a:prstGeom prst="rect">
              <a:avLst/>
            </a:prstGeom>
          </p:spPr>
          <p:txBody>
            <a:bodyPr lIns="0" tIns="0" rIns="0" bIns="0" rtlCol="0" anchor="ctr"/>
            <a:lstStyle/>
            <a:p>
              <a:pPr algn="ctr">
                <a:lnSpc>
                  <a:spcPts val="4610"/>
                </a:lnSpc>
              </a:pPr>
              <a:r>
                <a:rPr lang="en-US" sz="3840" b="1">
                  <a:solidFill>
                    <a:srgbClr val="FF0000"/>
                  </a:solidFill>
                  <a:latin typeface="Calibri (MS) Bold" panose="020F0702030404030204"/>
                  <a:ea typeface="Calibri (MS) Bold" panose="020F0702030404030204"/>
                  <a:cs typeface="Calibri (MS) Bold" panose="020F0702030404030204"/>
                  <a:sym typeface="Calibri (MS) Bold" panose="020F0702030404030204"/>
                </a:rPr>
                <a:t>Introduction</a:t>
              </a:r>
              <a:endParaRPr lang="en-US" sz="3840" b="1">
                <a:solidFill>
                  <a:srgbClr val="FF0000"/>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19" name="Rectangle 18"/>
          <p:cNvSpPr/>
          <p:nvPr/>
        </p:nvSpPr>
        <p:spPr>
          <a:xfrm>
            <a:off x="609600" y="1447801"/>
            <a:ext cx="8686800" cy="4293483"/>
          </a:xfrm>
          <a:prstGeom prst="rect">
            <a:avLst/>
          </a:prstGeom>
        </p:spPr>
        <p:txBody>
          <a:bodyPr wrap="square">
            <a:spAutoFit/>
          </a:bodyPr>
          <a:lstStyle/>
          <a:p>
            <a:pPr algn="just">
              <a:lnSpc>
                <a:spcPct val="150000"/>
              </a:lnSpc>
              <a:buFont typeface="Arial" panose="020B0604020202020204" pitchFamily="34" charset="0"/>
              <a:buChar char="•"/>
            </a:pPr>
            <a:r>
              <a:rPr lang="en-US" sz="2600" dirty="0" smtClean="0">
                <a:latin typeface="Times New Roman" panose="02020603050405020304" pitchFamily="18" charset="0"/>
                <a:cs typeface="Times New Roman" panose="02020603050405020304" pitchFamily="18" charset="0"/>
              </a:rPr>
              <a:t> House price estimation is difficult because prices depend on many factors like location, size, and number of rooms. Traditional methods are often inaccurate and time-consuming.</a:t>
            </a:r>
            <a:endParaRPr lang="en-US" sz="2600" dirty="0" smtClean="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600" dirty="0" smtClean="0">
                <a:latin typeface="Times New Roman" panose="02020603050405020304" pitchFamily="18" charset="0"/>
                <a:cs typeface="Times New Roman" panose="02020603050405020304" pitchFamily="18" charset="0"/>
              </a:rPr>
              <a:t> Our project “House Price Prediction” uses machine learning models such as Linear Regression, Decision Tree, and Random Forest to analyze past housing data and predict accurate house prices. </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609600"/>
            <a:ext cx="8778240" cy="696192"/>
            <a:chOff x="0" y="0"/>
            <a:chExt cx="11704320" cy="928256"/>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85725"/>
              <a:ext cx="11704320" cy="1013981"/>
            </a:xfrm>
            <a:prstGeom prst="rect">
              <a:avLst/>
            </a:prstGeom>
          </p:spPr>
          <p:txBody>
            <a:bodyPr lIns="0" tIns="0" rIns="0" bIns="0" rtlCol="0" anchor="ctr"/>
            <a:lstStyle/>
            <a:p>
              <a:pPr algn="ctr">
                <a:lnSpc>
                  <a:spcPts val="4610"/>
                </a:lnSpc>
              </a:pPr>
              <a:r>
                <a:rPr lang="en-US" sz="3840" b="1" dirty="0">
                  <a:solidFill>
                    <a:srgbClr val="FF0000"/>
                  </a:solidFill>
                  <a:latin typeface="Calibri (MS) Bold" panose="020F0702030404030204"/>
                  <a:ea typeface="Calibri (MS) Bold" panose="020F0702030404030204"/>
                  <a:cs typeface="Calibri (MS) Bold" panose="020F0702030404030204"/>
                  <a:sym typeface="Calibri (MS) Bold" panose="020F0702030404030204"/>
                </a:rPr>
                <a:t>Existing System</a:t>
              </a:r>
              <a:endParaRPr lang="en-US" sz="3840" b="1" dirty="0">
                <a:solidFill>
                  <a:srgbClr val="FF0000"/>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19" name="Rectangle 18"/>
          <p:cNvSpPr/>
          <p:nvPr/>
        </p:nvSpPr>
        <p:spPr>
          <a:xfrm>
            <a:off x="457200" y="1295400"/>
            <a:ext cx="8991600" cy="3954416"/>
          </a:xfrm>
          <a:prstGeom prst="rect">
            <a:avLst/>
          </a:prstGeom>
        </p:spPr>
        <p:txBody>
          <a:bodyPr wrap="square">
            <a:spAutoFit/>
          </a:bodyPr>
          <a:lstStyle/>
          <a:p>
            <a:pPr algn="just">
              <a:lnSpc>
                <a:spcPct val="150000"/>
              </a:lnSpc>
              <a:buFont typeface="Arial" panose="020B0604020202020204" pitchFamily="34" charset="0"/>
              <a:buChar char="•"/>
            </a:pPr>
            <a:r>
              <a:rPr lang="en-US" sz="2400" b="1" dirty="0" smtClean="0">
                <a:latin typeface="Times New Roman" panose="02020603050405020304" pitchFamily="18" charset="0"/>
                <a:cs typeface="Times New Roman" panose="02020603050405020304" pitchFamily="18" charset="0"/>
              </a:rPr>
              <a:t>Manual Methods :</a:t>
            </a:r>
            <a:endParaRPr lang="en-US" sz="2400" b="1" dirty="0" smtClean="0">
              <a:latin typeface="Times New Roman" panose="02020603050405020304" pitchFamily="18" charset="0"/>
              <a:cs typeface="Times New Roman" panose="02020603050405020304" pitchFamily="18" charset="0"/>
            </a:endParaRPr>
          </a:p>
          <a:p>
            <a:pPr algn="just">
              <a:lnSpc>
                <a:spcPct val="150000"/>
              </a:lnSpc>
            </a:pPr>
            <a:r>
              <a:rPr lang="en-US" sz="2400" dirty="0" smtClean="0">
                <a:latin typeface="Times New Roman" panose="02020603050405020304" pitchFamily="18" charset="0"/>
                <a:cs typeface="Times New Roman" panose="02020603050405020304" pitchFamily="18" charset="0"/>
              </a:rPr>
              <a:t>House prices are estimated by comparing nearby properties manually.</a:t>
            </a:r>
            <a:endParaRPr lang="en-US" sz="2400" dirty="0" smtClean="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400" b="1" dirty="0" smtClean="0">
                <a:latin typeface="Times New Roman" panose="02020603050405020304" pitchFamily="18" charset="0"/>
                <a:cs typeface="Times New Roman" panose="02020603050405020304" pitchFamily="18" charset="0"/>
              </a:rPr>
              <a:t>Broker Dependency :</a:t>
            </a:r>
            <a:endParaRPr lang="en-US" sz="2400" b="1" dirty="0" smtClean="0">
              <a:latin typeface="Times New Roman" panose="02020603050405020304" pitchFamily="18" charset="0"/>
              <a:cs typeface="Times New Roman" panose="02020603050405020304" pitchFamily="18" charset="0"/>
            </a:endParaRPr>
          </a:p>
          <a:p>
            <a:pPr algn="just">
              <a:lnSpc>
                <a:spcPct val="150000"/>
              </a:lnSpc>
            </a:pPr>
            <a:r>
              <a:rPr lang="en-US" sz="2400" dirty="0" smtClean="0">
                <a:latin typeface="Times New Roman" panose="02020603050405020304" pitchFamily="18" charset="0"/>
                <a:cs typeface="Times New Roman" panose="02020603050405020304" pitchFamily="18" charset="0"/>
              </a:rPr>
              <a:t>Price estimation depends on real estate agents or brokers. </a:t>
            </a:r>
            <a:endParaRPr lang="en-US" sz="2400" dirty="0" smtClean="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400" b="1" dirty="0" smtClean="0">
                <a:latin typeface="Times New Roman" panose="02020603050405020304" pitchFamily="18" charset="0"/>
                <a:cs typeface="Times New Roman" panose="02020603050405020304" pitchFamily="18" charset="0"/>
              </a:rPr>
              <a:t>Low Accuracy :</a:t>
            </a:r>
            <a:endParaRPr lang="en-US" sz="2400" b="1" dirty="0" smtClean="0">
              <a:latin typeface="Times New Roman" panose="02020603050405020304" pitchFamily="18" charset="0"/>
              <a:cs typeface="Times New Roman" panose="02020603050405020304" pitchFamily="18" charset="0"/>
            </a:endParaRPr>
          </a:p>
          <a:p>
            <a:pPr algn="just">
              <a:lnSpc>
                <a:spcPct val="150000"/>
              </a:lnSpc>
            </a:pPr>
            <a:r>
              <a:rPr lang="en-US" sz="2400" dirty="0" smtClean="0">
                <a:latin typeface="Times New Roman" panose="02020603050405020304" pitchFamily="18" charset="0"/>
                <a:cs typeface="Times New Roman" panose="02020603050405020304" pitchFamily="18" charset="0"/>
              </a:rPr>
              <a:t>Lack of advanced machine learning leads to inaccurate predictions.</a:t>
            </a:r>
            <a:endParaRPr lang="en-US" sz="2400" dirty="0" smtClean="0">
              <a:latin typeface="Times New Roman" panose="02020603050405020304" pitchFamily="18" charset="0"/>
              <a:cs typeface="Times New Roman" panose="02020603050405020304" pitchFamily="18" charset="0"/>
            </a:endParaRPr>
          </a:p>
          <a:p>
            <a:pPr algn="just">
              <a:lnSpc>
                <a:spcPct val="150000"/>
              </a:lnSpc>
            </a:pPr>
            <a:endParaRPr lang="en-US" sz="2600" dirty="0"/>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815616"/>
            <a:ext cx="8778240" cy="696192"/>
            <a:chOff x="0" y="0"/>
            <a:chExt cx="11704320" cy="928256"/>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85725"/>
              <a:ext cx="11704320" cy="1013981"/>
            </a:xfrm>
            <a:prstGeom prst="rect">
              <a:avLst/>
            </a:prstGeom>
          </p:spPr>
          <p:txBody>
            <a:bodyPr lIns="0" tIns="0" rIns="0" bIns="0" rtlCol="0" anchor="ctr"/>
            <a:lstStyle/>
            <a:p>
              <a:pPr algn="ctr">
                <a:lnSpc>
                  <a:spcPts val="4610"/>
                </a:lnSpc>
              </a:pPr>
              <a:r>
                <a:rPr lang="en-US" sz="3840" b="1">
                  <a:solidFill>
                    <a:srgbClr val="FF0000"/>
                  </a:solidFill>
                  <a:latin typeface="Calibri (MS) Bold" panose="020F0702030404030204"/>
                  <a:ea typeface="Calibri (MS) Bold" panose="020F0702030404030204"/>
                  <a:cs typeface="Calibri (MS) Bold" panose="020F0702030404030204"/>
                  <a:sym typeface="Calibri (MS) Bold" panose="020F0702030404030204"/>
                </a:rPr>
                <a:t>Proposed System</a:t>
              </a:r>
              <a:endParaRPr lang="en-US" sz="3840" b="1">
                <a:solidFill>
                  <a:srgbClr val="FF0000"/>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19" name="Rectangle 18"/>
          <p:cNvSpPr/>
          <p:nvPr/>
        </p:nvSpPr>
        <p:spPr>
          <a:xfrm>
            <a:off x="304800" y="1447800"/>
            <a:ext cx="9144000" cy="4893647"/>
          </a:xfrm>
          <a:prstGeom prst="rect">
            <a:avLst/>
          </a:prstGeom>
        </p:spPr>
        <p:txBody>
          <a:bodyPr wrap="square">
            <a:spAutoFit/>
          </a:bodyPr>
          <a:lstStyle/>
          <a:p>
            <a:pPr>
              <a:lnSpc>
                <a:spcPct val="150000"/>
              </a:lnSpc>
              <a:buFont typeface="Arial" panose="020B0604020202020204" pitchFamily="34" charset="0"/>
              <a:buChar char="•"/>
            </a:pPr>
            <a:r>
              <a:rPr lang="en-US" b="1" dirty="0" smtClean="0"/>
              <a:t> </a:t>
            </a:r>
            <a:r>
              <a:rPr lang="en-US" sz="2600" b="1" dirty="0" smtClean="0">
                <a:latin typeface="Times New Roman" panose="02020603050405020304" pitchFamily="18" charset="0"/>
                <a:cs typeface="Times New Roman" panose="02020603050405020304" pitchFamily="18" charset="0"/>
              </a:rPr>
              <a:t>Intelligent Price Prediction</a:t>
            </a:r>
            <a:r>
              <a:rPr lang="en-US" sz="2600" dirty="0" smtClean="0">
                <a:latin typeface="Times New Roman" panose="02020603050405020304" pitchFamily="18" charset="0"/>
                <a:cs typeface="Times New Roman" panose="02020603050405020304" pitchFamily="18" charset="0"/>
              </a:rPr>
              <a:t>: Uses advanced machine learning models to analyze large housing data and predict accurate house prices.</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Optimal Model Selection</a:t>
            </a:r>
            <a:r>
              <a:rPr lang="en-US" sz="2600" dirty="0" smtClean="0">
                <a:latin typeface="Times New Roman" panose="02020603050405020304" pitchFamily="18" charset="0"/>
                <a:cs typeface="Times New Roman" panose="02020603050405020304" pitchFamily="18" charset="0"/>
              </a:rPr>
              <a:t>: The system compares different models using performance metrics and selects the most accurate one to ensure reliable house price predictions.</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Accurate Model Selection</a:t>
            </a:r>
            <a:r>
              <a:rPr lang="en-US" sz="2600" dirty="0" smtClean="0">
                <a:latin typeface="Times New Roman" panose="02020603050405020304" pitchFamily="18" charset="0"/>
                <a:cs typeface="Times New Roman" panose="02020603050405020304" pitchFamily="18" charset="0"/>
              </a:rPr>
              <a:t>: Uses performance metrics to choose the best algorithm for reliable house price predictions..</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815616"/>
            <a:ext cx="8778240" cy="696192"/>
            <a:chOff x="0" y="0"/>
            <a:chExt cx="11704320" cy="928256"/>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85725"/>
              <a:ext cx="11704320" cy="1013981"/>
            </a:xfrm>
            <a:prstGeom prst="rect">
              <a:avLst/>
            </a:prstGeom>
          </p:spPr>
          <p:txBody>
            <a:bodyPr lIns="0" tIns="0" rIns="0" bIns="0" rtlCol="0" anchor="ctr"/>
            <a:lstStyle/>
            <a:p>
              <a:pPr algn="ctr">
                <a:lnSpc>
                  <a:spcPts val="4610"/>
                </a:lnSpc>
              </a:pPr>
              <a:r>
                <a:rPr lang="en-US" sz="3840">
                  <a:solidFill>
                    <a:srgbClr val="FF0000"/>
                  </a:solidFill>
                  <a:latin typeface="Calibri (MS)" panose="020F0502020204030204"/>
                  <a:ea typeface="Calibri (MS)" panose="020F0502020204030204"/>
                  <a:cs typeface="Calibri (MS)" panose="020F0502020204030204"/>
                  <a:sym typeface="Calibri (MS)" panose="020F0502020204030204"/>
                </a:rPr>
                <a:t>System Architecture</a:t>
              </a:r>
              <a:endParaRPr lang="en-US" sz="3840">
                <a:solidFill>
                  <a:srgbClr val="FF0000"/>
                </a:solidFill>
                <a:latin typeface="Calibri (MS)" panose="020F0502020204030204"/>
                <a:ea typeface="Calibri (MS)" panose="020F0502020204030204"/>
                <a:cs typeface="Calibri (MS)" panose="020F0502020204030204"/>
                <a:sym typeface="Calibri (MS)" panose="020F0502020204030204"/>
              </a:endParaRPr>
            </a:p>
          </p:txBody>
        </p:sp>
      </p:grpSp>
      <p:pic>
        <p:nvPicPr>
          <p:cNvPr id="1026" name="Picture 2"/>
          <p:cNvPicPr>
            <a:picLocks noChangeAspect="1" noChangeArrowheads="1"/>
          </p:cNvPicPr>
          <p:nvPr/>
        </p:nvPicPr>
        <p:blipFill>
          <a:blip r:embed="rId3" cstate="print"/>
          <a:srcRect/>
          <a:stretch>
            <a:fillRect/>
          </a:stretch>
        </p:blipFill>
        <p:spPr bwMode="auto">
          <a:xfrm>
            <a:off x="609600" y="1600200"/>
            <a:ext cx="8763000" cy="5105400"/>
          </a:xfrm>
          <a:prstGeom prst="rect">
            <a:avLst/>
          </a:prstGeom>
          <a:noFill/>
          <a:ln w="9525">
            <a:noFill/>
            <a:miter lim="800000"/>
            <a:headEnd/>
            <a:tailEnd/>
          </a:ln>
          <a:effectLst/>
        </p:spPr>
      </p:pic>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575616" y="2658048"/>
            <a:ext cx="8778240" cy="697728"/>
            <a:chOff x="0" y="0"/>
            <a:chExt cx="11704320" cy="930304"/>
          </a:xfrm>
        </p:grpSpPr>
        <p:sp>
          <p:nvSpPr>
            <p:cNvPr id="17" name="Freeform 17"/>
            <p:cNvSpPr/>
            <p:nvPr/>
          </p:nvSpPr>
          <p:spPr>
            <a:xfrm>
              <a:off x="0" y="0"/>
              <a:ext cx="11704320" cy="930304"/>
            </a:xfrm>
            <a:custGeom>
              <a:avLst/>
              <a:gdLst/>
              <a:ahLst/>
              <a:cxnLst/>
              <a:rect l="l" t="t" r="r" b="b"/>
              <a:pathLst>
                <a:path w="11704320" h="930304">
                  <a:moveTo>
                    <a:pt x="0" y="0"/>
                  </a:moveTo>
                  <a:lnTo>
                    <a:pt x="11704320" y="0"/>
                  </a:lnTo>
                  <a:lnTo>
                    <a:pt x="11704320" y="930304"/>
                  </a:lnTo>
                  <a:lnTo>
                    <a:pt x="0" y="930304"/>
                  </a:lnTo>
                  <a:close/>
                </a:path>
              </a:pathLst>
            </a:custGeom>
            <a:solidFill>
              <a:srgbClr val="000000">
                <a:alpha val="0"/>
              </a:srgbClr>
            </a:solidFill>
          </p:spPr>
        </p:sp>
        <p:sp>
          <p:nvSpPr>
            <p:cNvPr id="18" name="TextBox 18"/>
            <p:cNvSpPr txBox="1"/>
            <p:nvPr/>
          </p:nvSpPr>
          <p:spPr>
            <a:xfrm>
              <a:off x="0" y="-85725"/>
              <a:ext cx="11704320" cy="1016029"/>
            </a:xfrm>
            <a:prstGeom prst="rect">
              <a:avLst/>
            </a:prstGeom>
          </p:spPr>
          <p:txBody>
            <a:bodyPr lIns="0" tIns="0" rIns="0" bIns="0" rtlCol="0" anchor="ctr"/>
            <a:lstStyle/>
            <a:p>
              <a:pPr algn="ctr">
                <a:lnSpc>
                  <a:spcPts val="4610"/>
                </a:lnSpc>
              </a:pPr>
              <a:r>
                <a:rPr lang="en-US" sz="3840">
                  <a:solidFill>
                    <a:srgbClr val="FF0000"/>
                  </a:solidFill>
                  <a:latin typeface="Calibri (MS)" panose="020F0502020204030204"/>
                  <a:ea typeface="Calibri (MS)" panose="020F0502020204030204"/>
                  <a:cs typeface="Calibri (MS)" panose="020F0502020204030204"/>
                  <a:sym typeface="Calibri (MS)" panose="020F0502020204030204"/>
                </a:rPr>
                <a:t>Technical Requirements Specification (TRS)</a:t>
              </a:r>
              <a:endParaRPr lang="en-US" sz="3840">
                <a:solidFill>
                  <a:srgbClr val="FF0000"/>
                </a:solidFill>
                <a:latin typeface="Calibri (MS)" panose="020F0502020204030204"/>
                <a:ea typeface="Calibri (MS)" panose="020F0502020204030204"/>
                <a:cs typeface="Calibri (MS)" panose="020F0502020204030204"/>
                <a:sym typeface="Calibri (MS)" panose="020F0502020204030204"/>
              </a:endParaRPr>
            </a:p>
          </p:txBody>
        </p:sp>
      </p:gr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815616"/>
            <a:ext cx="8778240" cy="696192"/>
            <a:chOff x="0" y="0"/>
            <a:chExt cx="11704320" cy="928256"/>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85725"/>
              <a:ext cx="11704320" cy="1013981"/>
            </a:xfrm>
            <a:prstGeom prst="rect">
              <a:avLst/>
            </a:prstGeom>
          </p:spPr>
          <p:txBody>
            <a:bodyPr lIns="0" tIns="0" rIns="0" bIns="0" rtlCol="0" anchor="ctr"/>
            <a:lstStyle/>
            <a:p>
              <a:pPr algn="ctr">
                <a:lnSpc>
                  <a:spcPts val="4610"/>
                </a:lnSpc>
              </a:pPr>
              <a:r>
                <a:rPr lang="en-US" sz="3840">
                  <a:solidFill>
                    <a:srgbClr val="FF0000"/>
                  </a:solidFill>
                  <a:latin typeface="Calibri (MS)" panose="020F0502020204030204"/>
                  <a:ea typeface="Calibri (MS)" panose="020F0502020204030204"/>
                  <a:cs typeface="Calibri (MS)" panose="020F0502020204030204"/>
                  <a:sym typeface="Calibri (MS)" panose="020F0502020204030204"/>
                </a:rPr>
                <a:t>Software Requirements Specification(SRS)</a:t>
              </a:r>
              <a:endParaRPr lang="en-US" sz="3840">
                <a:solidFill>
                  <a:srgbClr val="FF0000"/>
                </a:solidFill>
                <a:latin typeface="Calibri (MS)" panose="020F0502020204030204"/>
                <a:ea typeface="Calibri (MS)" panose="020F0502020204030204"/>
                <a:cs typeface="Calibri (MS)" panose="020F0502020204030204"/>
                <a:sym typeface="Calibri (MS)" panose="020F0502020204030204"/>
              </a:endParaRPr>
            </a:p>
          </p:txBody>
        </p:sp>
      </p:grpSp>
      <p:sp>
        <p:nvSpPr>
          <p:cNvPr id="19" name="Rectangle 18"/>
          <p:cNvSpPr/>
          <p:nvPr/>
        </p:nvSpPr>
        <p:spPr>
          <a:xfrm>
            <a:off x="533400" y="1447800"/>
            <a:ext cx="8534400" cy="3692525"/>
          </a:xfrm>
          <a:prstGeom prst="rect">
            <a:avLst/>
          </a:prstGeom>
        </p:spPr>
        <p:txBody>
          <a:bodyPr wrap="square">
            <a:spAutoFit/>
          </a:bodyPr>
          <a:lstStyle/>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Operating System</a:t>
            </a:r>
            <a:r>
              <a:rPr lang="en-US" sz="2600" dirty="0" smtClean="0">
                <a:latin typeface="Times New Roman" panose="02020603050405020304" pitchFamily="18" charset="0"/>
                <a:cs typeface="Times New Roman" panose="02020603050405020304" pitchFamily="18" charset="0"/>
              </a:rPr>
              <a:t>: Windows 10/11 (64-bit) </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Programming Language</a:t>
            </a:r>
            <a:r>
              <a:rPr lang="en-US" sz="2600" dirty="0" smtClean="0">
                <a:latin typeface="Times New Roman" panose="02020603050405020304" pitchFamily="18" charset="0"/>
                <a:cs typeface="Times New Roman" panose="02020603050405020304" pitchFamily="18" charset="0"/>
              </a:rPr>
              <a:t>: Python 3.8</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IDE</a:t>
            </a:r>
            <a:r>
              <a:rPr lang="en-US" sz="2600" dirty="0" smtClean="0">
                <a:latin typeface="Times New Roman" panose="02020603050405020304" pitchFamily="18" charset="0"/>
                <a:cs typeface="Times New Roman" panose="02020603050405020304" pitchFamily="18" charset="0"/>
              </a:rPr>
              <a:t>: Visual Studio Code</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Web Framework</a:t>
            </a:r>
            <a:r>
              <a:rPr lang="en-US" sz="2600" dirty="0" smtClean="0">
                <a:latin typeface="Times New Roman" panose="02020603050405020304" pitchFamily="18" charset="0"/>
                <a:cs typeface="Times New Roman" panose="02020603050405020304" pitchFamily="18" charset="0"/>
              </a:rPr>
              <a:t>: streamlit GUI</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Machine Learning Libraries</a:t>
            </a:r>
            <a:r>
              <a:rPr lang="en-US" sz="2600" dirty="0" smtClean="0">
                <a:latin typeface="Times New Roman" panose="02020603050405020304" pitchFamily="18" charset="0"/>
                <a:cs typeface="Times New Roman" panose="02020603050405020304" pitchFamily="18" charset="0"/>
              </a:rPr>
              <a:t>: </a:t>
            </a:r>
            <a:r>
              <a:rPr lang="en-US" sz="2600" dirty="0" err="1" smtClean="0">
                <a:latin typeface="Times New Roman" panose="02020603050405020304" pitchFamily="18" charset="0"/>
                <a:cs typeface="Times New Roman" panose="02020603050405020304" pitchFamily="18" charset="0"/>
              </a:rPr>
              <a:t>Sk</a:t>
            </a:r>
            <a:r>
              <a:rPr lang="en-US" sz="2600" dirty="0" smtClean="0">
                <a:latin typeface="Times New Roman" panose="02020603050405020304" pitchFamily="18" charset="0"/>
                <a:cs typeface="Times New Roman" panose="02020603050405020304" pitchFamily="18" charset="0"/>
              </a:rPr>
              <a:t>learn, Pandas, Numpy</a:t>
            </a:r>
            <a:endParaRPr lang="en-US" sz="2600" dirty="0" smtClean="0">
              <a:latin typeface="Times New Roman" panose="02020603050405020304" pitchFamily="18" charset="0"/>
              <a:cs typeface="Times New Roman" panose="02020603050405020304" pitchFamily="18" charset="0"/>
            </a:endParaRPr>
          </a:p>
          <a:p>
            <a:pPr indent="0">
              <a:lnSpc>
                <a:spcPct val="150000"/>
              </a:lnSpc>
              <a:buFont typeface="Arial" panose="020B0604020202020204" pitchFamily="34" charset="0"/>
              <a:buNone/>
            </a:pPr>
            <a:endParaRPr lang="en-US" sz="2600" dirty="0" smtClean="0">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815616"/>
            <a:ext cx="8778240" cy="696192"/>
            <a:chOff x="0" y="0"/>
            <a:chExt cx="11704320" cy="928256"/>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85725"/>
              <a:ext cx="11704320" cy="1013981"/>
            </a:xfrm>
            <a:prstGeom prst="rect">
              <a:avLst/>
            </a:prstGeom>
          </p:spPr>
          <p:txBody>
            <a:bodyPr lIns="0" tIns="0" rIns="0" bIns="0" rtlCol="0" anchor="ctr"/>
            <a:lstStyle/>
            <a:p>
              <a:pPr algn="ctr">
                <a:lnSpc>
                  <a:spcPts val="4610"/>
                </a:lnSpc>
              </a:pPr>
              <a:r>
                <a:rPr lang="en-US" sz="3840">
                  <a:solidFill>
                    <a:srgbClr val="FF0000"/>
                  </a:solidFill>
                  <a:latin typeface="Calibri (MS)" panose="020F0502020204030204"/>
                  <a:ea typeface="Calibri (MS)" panose="020F0502020204030204"/>
                  <a:cs typeface="Calibri (MS)" panose="020F0502020204030204"/>
                  <a:sym typeface="Calibri (MS)" panose="020F0502020204030204"/>
                </a:rPr>
                <a:t>Hardware Requirements Specification(HRS)</a:t>
              </a:r>
              <a:endParaRPr lang="en-US" sz="3840">
                <a:solidFill>
                  <a:srgbClr val="FF0000"/>
                </a:solidFill>
                <a:latin typeface="Calibri (MS)" panose="020F0502020204030204"/>
                <a:ea typeface="Calibri (MS)" panose="020F0502020204030204"/>
                <a:cs typeface="Calibri (MS)" panose="020F0502020204030204"/>
                <a:sym typeface="Calibri (MS)" panose="020F0502020204030204"/>
              </a:endParaRPr>
            </a:p>
          </p:txBody>
        </p:sp>
      </p:grpSp>
      <p:sp>
        <p:nvSpPr>
          <p:cNvPr id="19" name="Rectangle 18"/>
          <p:cNvSpPr/>
          <p:nvPr/>
        </p:nvSpPr>
        <p:spPr>
          <a:xfrm>
            <a:off x="457200" y="1533942"/>
            <a:ext cx="8153400" cy="2491740"/>
          </a:xfrm>
          <a:prstGeom prst="rect">
            <a:avLst/>
          </a:prstGeom>
        </p:spPr>
        <p:txBody>
          <a:bodyPr wrap="square">
            <a:spAutoFit/>
          </a:bodyPr>
          <a:lstStyle/>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Processor</a:t>
            </a:r>
            <a:r>
              <a:rPr lang="en-US" sz="2600" dirty="0" smtClean="0">
                <a:latin typeface="Times New Roman" panose="02020603050405020304" pitchFamily="18" charset="0"/>
                <a:cs typeface="Times New Roman" panose="02020603050405020304" pitchFamily="18" charset="0"/>
              </a:rPr>
              <a:t>: Intel Core i5</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RAM</a:t>
            </a:r>
            <a:r>
              <a:rPr lang="en-US" sz="2600" dirty="0" smtClean="0">
                <a:latin typeface="Times New Roman" panose="02020603050405020304" pitchFamily="18" charset="0"/>
                <a:cs typeface="Times New Roman" panose="02020603050405020304" pitchFamily="18" charset="0"/>
              </a:rPr>
              <a:t>: 8 GB</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Hard Drive</a:t>
            </a:r>
            <a:r>
              <a:rPr lang="en-US" sz="2600" dirty="0" smtClean="0">
                <a:latin typeface="Times New Roman" panose="02020603050405020304" pitchFamily="18" charset="0"/>
                <a:cs typeface="Times New Roman" panose="02020603050405020304" pitchFamily="18" charset="0"/>
              </a:rPr>
              <a:t>: 1 TB SSD</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Graphics Card</a:t>
            </a:r>
            <a:r>
              <a:rPr lang="en-US" sz="2600" dirty="0" smtClean="0">
                <a:latin typeface="Times New Roman" panose="02020603050405020304" pitchFamily="18" charset="0"/>
                <a:cs typeface="Times New Roman" panose="02020603050405020304" pitchFamily="18" charset="0"/>
              </a:rPr>
              <a:t>: Dedicated GPU with 4 GB VRAM</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grpSp>
        <p:nvGrpSpPr>
          <p:cNvPr id="16" name="Group 16"/>
          <p:cNvGrpSpPr/>
          <p:nvPr/>
        </p:nvGrpSpPr>
        <p:grpSpPr>
          <a:xfrm>
            <a:off x="-384" y="815617"/>
            <a:ext cx="9449184" cy="403584"/>
            <a:chOff x="-650752" y="0"/>
            <a:chExt cx="12355072" cy="3976708"/>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650752" y="2962727"/>
              <a:ext cx="11704320" cy="1013981"/>
            </a:xfrm>
            <a:prstGeom prst="rect">
              <a:avLst/>
            </a:prstGeom>
          </p:spPr>
          <p:txBody>
            <a:bodyPr lIns="0" tIns="0" rIns="0" bIns="0" rtlCol="0" anchor="ctr"/>
            <a:lstStyle/>
            <a:p>
              <a:pPr algn="ctr">
                <a:lnSpc>
                  <a:spcPts val="4610"/>
                </a:lnSpc>
              </a:pPr>
              <a:r>
                <a:rPr lang="en-US" altLang="en-US" sz="4000" dirty="0">
                  <a:solidFill>
                    <a:srgbClr val="FF0000"/>
                  </a:solidFill>
                </a:rPr>
                <a:t>Application Modules</a:t>
              </a:r>
              <a:endParaRPr lang="en-US" sz="3840" dirty="0">
                <a:solidFill>
                  <a:srgbClr val="FF0000"/>
                </a:solidFill>
                <a:latin typeface="Calibri (MS)" panose="020F0502020204030204"/>
                <a:ea typeface="Calibri (MS)" panose="020F0502020204030204"/>
                <a:cs typeface="Calibri (MS)" panose="020F0502020204030204"/>
                <a:sym typeface="Calibri (MS)" panose="020F0502020204030204"/>
              </a:endParaRPr>
            </a:p>
          </p:txBody>
        </p:sp>
      </p:grpSp>
      <p:sp>
        <p:nvSpPr>
          <p:cNvPr id="19" name="Text Box 18"/>
          <p:cNvSpPr txBox="1"/>
          <p:nvPr/>
        </p:nvSpPr>
        <p:spPr>
          <a:xfrm>
            <a:off x="303530" y="1673225"/>
            <a:ext cx="8447405" cy="5005705"/>
          </a:xfrm>
          <a:prstGeom prst="rect">
            <a:avLst/>
          </a:prstGeom>
          <a:noFill/>
        </p:spPr>
        <p:txBody>
          <a:bodyPr wrap="square" rtlCol="0" anchor="t">
            <a:noAutofit/>
          </a:bodyPr>
          <a:p>
            <a:pPr>
              <a:lnSpc>
                <a:spcPct val="150000"/>
              </a:lnSpc>
            </a:pPr>
            <a:r>
              <a:rPr lang="en-US" altLang="en-GB" sz="2800" b="1"/>
              <a:t>Module - 1</a:t>
            </a:r>
            <a:r>
              <a:rPr lang="en-US" altLang="en-GB" sz="2800"/>
              <a:t> : Data Collection</a:t>
            </a:r>
            <a:endParaRPr lang="en-US" altLang="en-GB" sz="2800"/>
          </a:p>
          <a:p>
            <a:pPr>
              <a:lnSpc>
                <a:spcPct val="150000"/>
              </a:lnSpc>
            </a:pPr>
            <a:r>
              <a:rPr lang="en-US" altLang="en-GB" sz="2800" b="1"/>
              <a:t>Module - 2 </a:t>
            </a:r>
            <a:r>
              <a:rPr lang="en-US" altLang="en-GB" sz="2800"/>
              <a:t>: </a:t>
            </a:r>
            <a:r>
              <a:rPr lang="en-US" altLang="en-GB" sz="2800">
                <a:sym typeface="+mn-ea"/>
              </a:rPr>
              <a:t>Data Cleaning &amp; Transformation</a:t>
            </a:r>
            <a:endParaRPr lang="en-US" altLang="en-GB" sz="2800"/>
          </a:p>
          <a:p>
            <a:pPr>
              <a:lnSpc>
                <a:spcPct val="150000"/>
              </a:lnSpc>
            </a:pPr>
            <a:r>
              <a:rPr lang="en-US" altLang="en-GB" sz="2800" b="1"/>
              <a:t>Module - 3 </a:t>
            </a:r>
            <a:r>
              <a:rPr lang="en-US" altLang="en-GB" sz="2800"/>
              <a:t>: </a:t>
            </a:r>
            <a:r>
              <a:rPr lang="en-US" altLang="en-GB" sz="2800">
                <a:sym typeface="+mn-ea"/>
              </a:rPr>
              <a:t>Data Modeling</a:t>
            </a:r>
            <a:endParaRPr lang="en-US" altLang="en-GB" sz="2800"/>
          </a:p>
          <a:p>
            <a:pPr>
              <a:lnSpc>
                <a:spcPct val="150000"/>
              </a:lnSpc>
            </a:pPr>
            <a:r>
              <a:rPr lang="en-US" altLang="en-GB" sz="2800" b="1"/>
              <a:t>Module - 4 </a:t>
            </a:r>
            <a:r>
              <a:rPr lang="en-US" altLang="en-GB" sz="2800"/>
              <a:t>: Machine learning and Model training </a:t>
            </a:r>
            <a:r>
              <a:rPr lang="en-US" altLang="en-GB" sz="2800" b="1"/>
              <a:t>Module - 5 </a:t>
            </a:r>
            <a:r>
              <a:rPr lang="en-US" altLang="en-GB" sz="2800"/>
              <a:t>: Visualization &amp; Dashboard Module</a:t>
            </a:r>
            <a:endParaRPr lang="en-GB" altLang="en-US" sz="2800"/>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421111" y="2568216"/>
            <a:ext cx="8951489" cy="1165584"/>
          </a:xfrm>
          <a:prstGeom prst="rect">
            <a:avLst/>
          </a:prstGeom>
        </p:spPr>
        <p:txBody>
          <a:bodyPr lIns="0" tIns="0" rIns="0" bIns="0" rtlCol="0" anchor="ctr"/>
          <a:lstStyle/>
          <a:p>
            <a:pPr algn="ctr">
              <a:lnSpc>
                <a:spcPts val="4610"/>
              </a:lnSpc>
            </a:pPr>
            <a:r>
              <a:rPr lang="en-US" altLang="en-US" sz="4000" dirty="0">
                <a:solidFill>
                  <a:srgbClr val="FF0000"/>
                </a:solidFill>
              </a:rPr>
              <a:t>System Models</a:t>
            </a:r>
            <a:endParaRPr lang="en-US" altLang="en-US" sz="4000" dirty="0">
              <a:solidFill>
                <a:srgbClr val="FF0000"/>
              </a:solidFill>
            </a:endParaRPr>
          </a:p>
          <a:p>
            <a:pPr algn="ctr">
              <a:lnSpc>
                <a:spcPts val="4610"/>
              </a:lnSpc>
            </a:pPr>
            <a:r>
              <a:rPr lang="en-US" sz="3200" dirty="0">
                <a:latin typeface="Calibri (MS)" panose="020F0502020204030204"/>
                <a:ea typeface="Calibri (MS)" panose="020F0502020204030204"/>
                <a:cs typeface="Calibri (MS)" panose="020F0502020204030204"/>
                <a:sym typeface="Calibri (MS)" panose="020F0502020204030204"/>
              </a:rPr>
              <a:t>(UML Diagrams)</a:t>
            </a:r>
            <a:endParaRPr lang="en-US" sz="3200" dirty="0">
              <a:latin typeface="Calibri (MS)" panose="020F0502020204030204"/>
              <a:ea typeface="Calibri (MS)" panose="020F0502020204030204"/>
              <a:cs typeface="Calibri (MS)" panose="020F0502020204030204"/>
              <a:sym typeface="Calibri (MS)" panose="020F0502020204030204"/>
            </a:endParaRP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381000" y="812864"/>
            <a:ext cx="8951489" cy="787336"/>
          </a:xfrm>
          <a:prstGeom prst="rect">
            <a:avLst/>
          </a:prstGeom>
        </p:spPr>
        <p:txBody>
          <a:bodyPr lIns="0" tIns="0" rIns="0" bIns="0" rtlCol="0" anchor="ctr"/>
          <a:lstStyle/>
          <a:p>
            <a:pPr algn="ctr">
              <a:lnSpc>
                <a:spcPts val="4610"/>
              </a:lnSpc>
            </a:pPr>
            <a:r>
              <a:rPr lang="en-US" altLang="en-US" sz="4000" dirty="0">
                <a:solidFill>
                  <a:srgbClr val="FF0000"/>
                </a:solidFill>
              </a:rPr>
              <a:t>Dataflow Diagram</a:t>
            </a:r>
            <a:endParaRPr lang="en-US" altLang="en-US" sz="4000" dirty="0">
              <a:solidFill>
                <a:srgbClr val="FF0000"/>
              </a:solidFill>
            </a:endParaRPr>
          </a:p>
        </p:txBody>
      </p:sp>
      <p:pic>
        <p:nvPicPr>
          <p:cNvPr id="17" name="Picture 16" descr="Screenshot 2026-02-27 111222"/>
          <p:cNvPicPr>
            <a:picLocks noChangeAspect="1"/>
          </p:cNvPicPr>
          <p:nvPr/>
        </p:nvPicPr>
        <p:blipFill>
          <a:blip r:embed="rId3"/>
          <a:stretch>
            <a:fillRect/>
          </a:stretch>
        </p:blipFill>
        <p:spPr>
          <a:xfrm>
            <a:off x="3013710" y="1453515"/>
            <a:ext cx="3726180" cy="4676775"/>
          </a:xfrm>
          <a:prstGeom prst="rect">
            <a:avLst/>
          </a:prstGeom>
        </p:spPr>
      </p:pic>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381000" y="812864"/>
            <a:ext cx="8951489" cy="787336"/>
          </a:xfrm>
          <a:prstGeom prst="rect">
            <a:avLst/>
          </a:prstGeom>
        </p:spPr>
        <p:txBody>
          <a:bodyPr lIns="0" tIns="0" rIns="0" bIns="0" rtlCol="0" anchor="ctr"/>
          <a:lstStyle/>
          <a:p>
            <a:pPr algn="ctr">
              <a:lnSpc>
                <a:spcPts val="4610"/>
              </a:lnSpc>
            </a:pPr>
            <a:r>
              <a:rPr lang="en-US" altLang="en-US" sz="4000" dirty="0">
                <a:solidFill>
                  <a:srgbClr val="FF0000"/>
                </a:solidFill>
              </a:rPr>
              <a:t>Use Case Diagram</a:t>
            </a:r>
            <a:endParaRPr lang="en-US" altLang="en-US" sz="4000" dirty="0">
              <a:solidFill>
                <a:srgbClr val="FF0000"/>
              </a:solidFill>
            </a:endParaRPr>
          </a:p>
        </p:txBody>
      </p:sp>
      <p:pic>
        <p:nvPicPr>
          <p:cNvPr id="16" name="Picture 15"/>
          <p:cNvPicPr>
            <a:picLocks noChangeAspect="1"/>
          </p:cNvPicPr>
          <p:nvPr/>
        </p:nvPicPr>
        <p:blipFill>
          <a:blip r:embed="rId3"/>
          <a:srcRect/>
          <a:stretch>
            <a:fillRect/>
          </a:stretch>
        </p:blipFill>
        <p:spPr>
          <a:xfrm>
            <a:off x="228600" y="1959610"/>
            <a:ext cx="9488170" cy="3975100"/>
          </a:xfrm>
          <a:prstGeom prst="rect">
            <a:avLst/>
          </a:prstGeom>
        </p:spPr>
      </p:pic>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381000" y="812864"/>
            <a:ext cx="8951489" cy="787336"/>
          </a:xfrm>
          <a:prstGeom prst="rect">
            <a:avLst/>
          </a:prstGeom>
        </p:spPr>
        <p:txBody>
          <a:bodyPr lIns="0" tIns="0" rIns="0" bIns="0" rtlCol="0" anchor="ctr"/>
          <a:lstStyle/>
          <a:p>
            <a:pPr algn="ctr">
              <a:lnSpc>
                <a:spcPts val="4610"/>
              </a:lnSpc>
            </a:pPr>
            <a:r>
              <a:rPr lang="en-US" altLang="en-US" sz="4000" dirty="0">
                <a:solidFill>
                  <a:srgbClr val="FF0000"/>
                </a:solidFill>
              </a:rPr>
              <a:t>Sequential Diagram</a:t>
            </a:r>
            <a:endParaRPr lang="en-US" altLang="en-US" sz="4000" dirty="0">
              <a:solidFill>
                <a:srgbClr val="FF0000"/>
              </a:solidFill>
            </a:endParaRPr>
          </a:p>
        </p:txBody>
      </p:sp>
      <p:pic>
        <p:nvPicPr>
          <p:cNvPr id="19" name="Picture 18" descr="Screenshot 2026-02-27 110434"/>
          <p:cNvPicPr>
            <a:picLocks noChangeAspect="1"/>
          </p:cNvPicPr>
          <p:nvPr/>
        </p:nvPicPr>
        <p:blipFill>
          <a:blip r:embed="rId3"/>
          <a:stretch>
            <a:fillRect/>
          </a:stretch>
        </p:blipFill>
        <p:spPr>
          <a:xfrm>
            <a:off x="-76200" y="1752600"/>
            <a:ext cx="9753600" cy="4972050"/>
          </a:xfrm>
          <a:prstGeom prst="rect">
            <a:avLst/>
          </a:prstGeom>
        </p:spPr>
      </p:pic>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sp>
        <p:nvSpPr>
          <p:cNvPr id="18" name="TextBox 18"/>
          <p:cNvSpPr txBox="1"/>
          <p:nvPr/>
        </p:nvSpPr>
        <p:spPr>
          <a:xfrm>
            <a:off x="304800" y="2438400"/>
            <a:ext cx="8951489" cy="1371600"/>
          </a:xfrm>
          <a:prstGeom prst="rect">
            <a:avLst/>
          </a:prstGeom>
        </p:spPr>
        <p:txBody>
          <a:bodyPr lIns="0" tIns="0" rIns="0" bIns="0" rtlCol="0" anchor="ctr"/>
          <a:lstStyle/>
          <a:p>
            <a:pPr>
              <a:lnSpc>
                <a:spcPts val="4610"/>
              </a:lnSpc>
            </a:pPr>
            <a:r>
              <a:rPr lang="en-US" altLang="en-US" sz="4000" dirty="0" smtClean="0">
                <a:solidFill>
                  <a:srgbClr val="FF0000"/>
                </a:solidFill>
              </a:rPr>
              <a:t>                            </a:t>
            </a:r>
            <a:r>
              <a:rPr lang="en-US" altLang="en-US" sz="6000" b="1" dirty="0" smtClean="0">
                <a:solidFill>
                  <a:srgbClr val="FF0000"/>
                </a:solidFill>
              </a:rPr>
              <a:t>Thank You</a:t>
            </a:r>
            <a:endParaRPr lang="en-US" altLang="en-US" sz="6000" b="1" dirty="0">
              <a:solidFill>
                <a:srgbClr val="FF0000"/>
              </a:solidFill>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4962</Words>
  <Application>WPS Presentation</Application>
  <PresentationFormat>Custom</PresentationFormat>
  <Paragraphs>141</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Calibri (MS) Bold</vt:lpstr>
      <vt:lpstr>Calibri (MS) Italics</vt:lpstr>
      <vt:lpstr>Calibri</vt:lpstr>
      <vt:lpstr>Arial</vt:lpstr>
      <vt:lpstr>Times New Roman</vt:lpstr>
      <vt:lpstr>Calibri (MS)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AD-1_Presentation1_2025_Template_2025.ppt</dc:title>
  <dc:creator>santhosh k</dc:creator>
  <cp:lastModifiedBy>WPS_1705597807</cp:lastModifiedBy>
  <cp:revision>79</cp:revision>
  <dcterms:created xsi:type="dcterms:W3CDTF">2006-08-16T00:00:00Z</dcterms:created>
  <dcterms:modified xsi:type="dcterms:W3CDTF">2026-02-27T05:43:15Z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B425B4729DE947979DFEEF9B6964688D_13</vt:lpwstr>
  </property>
  <property fmtid="{D5CDD505-2E9C-101B-9397-08002B2CF9AE}" pid="3" name="KSOProductBuildVer">
    <vt:lpwstr>2057-12.2.0.23197</vt:lpwstr>
  </property>
</Properties>
</file>