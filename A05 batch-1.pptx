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sldIdLst>
    <p:sldId id="256" r:id="rId3"/>
    <p:sldId id="275" r:id="rId4"/>
    <p:sldId id="257" r:id="rId5"/>
    <p:sldId id="259" r:id="rId6"/>
    <p:sldId id="291" r:id="rId7"/>
    <p:sldId id="292" r:id="rId8"/>
    <p:sldId id="293" r:id="rId9"/>
    <p:sldId id="294" r:id="rId10"/>
    <p:sldId id="273" r:id="rId11"/>
    <p:sldId id="295" r:id="rId12"/>
    <p:sldId id="282" r:id="rId13"/>
    <p:sldId id="283" r:id="rId14"/>
    <p:sldId id="284" r:id="rId15"/>
    <p:sldId id="285" r:id="rId16"/>
    <p:sldId id="281" r:id="rId17"/>
    <p:sldId id="278" r:id="rId18"/>
    <p:sldId id="280" r:id="rId19"/>
    <p:sldId id="26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1215" autoAdjust="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 /><Relationship Id="rId13" Type="http://schemas.openxmlformats.org/officeDocument/2006/relationships/slide" Target="slides/slide11.xml" /><Relationship Id="rId18" Type="http://schemas.openxmlformats.org/officeDocument/2006/relationships/slide" Target="slides/slide16.xml" /><Relationship Id="rId3" Type="http://schemas.openxmlformats.org/officeDocument/2006/relationships/slide" Target="slides/slide1.xml" /><Relationship Id="rId21" Type="http://schemas.openxmlformats.org/officeDocument/2006/relationships/presProps" Target="presProps.xml" /><Relationship Id="rId7" Type="http://schemas.openxmlformats.org/officeDocument/2006/relationships/slide" Target="slides/slide5.xml" /><Relationship Id="rId12" Type="http://schemas.openxmlformats.org/officeDocument/2006/relationships/slide" Target="slides/slide10.xml" /><Relationship Id="rId17" Type="http://schemas.openxmlformats.org/officeDocument/2006/relationships/slide" Target="slides/slide15.xml" /><Relationship Id="rId2" Type="http://schemas.openxmlformats.org/officeDocument/2006/relationships/slideMaster" Target="slideMasters/slideMaster2.xml" /><Relationship Id="rId16" Type="http://schemas.openxmlformats.org/officeDocument/2006/relationships/slide" Target="slides/slide14.xml" /><Relationship Id="rId20" Type="http://schemas.openxmlformats.org/officeDocument/2006/relationships/slide" Target="slides/slide18.xml" /><Relationship Id="rId1" Type="http://schemas.openxmlformats.org/officeDocument/2006/relationships/slideMaster" Target="slideMasters/slideMaster1.xml" /><Relationship Id="rId6" Type="http://schemas.openxmlformats.org/officeDocument/2006/relationships/slide" Target="slides/slide4.xml" /><Relationship Id="rId11" Type="http://schemas.openxmlformats.org/officeDocument/2006/relationships/slide" Target="slides/slide9.xml" /><Relationship Id="rId24" Type="http://schemas.openxmlformats.org/officeDocument/2006/relationships/tableStyles" Target="tableStyles.xml" /><Relationship Id="rId5" Type="http://schemas.openxmlformats.org/officeDocument/2006/relationships/slide" Target="slides/slide3.xml" /><Relationship Id="rId15" Type="http://schemas.openxmlformats.org/officeDocument/2006/relationships/slide" Target="slides/slide13.xml" /><Relationship Id="rId23" Type="http://schemas.openxmlformats.org/officeDocument/2006/relationships/theme" Target="theme/theme1.xml" /><Relationship Id="rId10" Type="http://schemas.openxmlformats.org/officeDocument/2006/relationships/slide" Target="slides/slide8.xml" /><Relationship Id="rId19" Type="http://schemas.openxmlformats.org/officeDocument/2006/relationships/slide" Target="slides/slide17.xml" /><Relationship Id="rId4" Type="http://schemas.openxmlformats.org/officeDocument/2006/relationships/slide" Target="slides/slide2.xml" /><Relationship Id="rId9" Type="http://schemas.openxmlformats.org/officeDocument/2006/relationships/slide" Target="slides/slide7.xml" /><Relationship Id="rId14" Type="http://schemas.openxmlformats.org/officeDocument/2006/relationships/slide" Target="slides/slide12.xml" /><Relationship Id="rId22"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8A87A34-81AB-432B-8DAE-1953F412C126}" type="datetimeFigureOut">
              <a:rPr lang="en-US" smtClean="0"/>
              <a:t>11/7/2024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22F896-40B5-4ADD-8801-0D06FADFA09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D22F896-40B5-4ADD-8801-0D06FADFA095}" type="slidenum">
              <a:rPr lang="en-US" smtClean="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t>‹#›</a:t>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 /><Relationship Id="rId13" Type="http://schemas.openxmlformats.org/officeDocument/2006/relationships/slideLayout" Target="../slideLayouts/slideLayout24.xml" /><Relationship Id="rId3" Type="http://schemas.openxmlformats.org/officeDocument/2006/relationships/slideLayout" Target="../slideLayouts/slideLayout14.xml" /><Relationship Id="rId7" Type="http://schemas.openxmlformats.org/officeDocument/2006/relationships/slideLayout" Target="../slideLayouts/slideLayout18.xml" /><Relationship Id="rId12" Type="http://schemas.openxmlformats.org/officeDocument/2006/relationships/slideLayout" Target="../slideLayouts/slideLayout23.xml" /><Relationship Id="rId17" Type="http://schemas.openxmlformats.org/officeDocument/2006/relationships/theme" Target="../theme/theme2.xml" /><Relationship Id="rId2" Type="http://schemas.openxmlformats.org/officeDocument/2006/relationships/slideLayout" Target="../slideLayouts/slideLayout13.xml" /><Relationship Id="rId16" Type="http://schemas.openxmlformats.org/officeDocument/2006/relationships/slideLayout" Target="../slideLayouts/slideLayout27.xml" /><Relationship Id="rId1" Type="http://schemas.openxmlformats.org/officeDocument/2006/relationships/slideLayout" Target="../slideLayouts/slideLayout12.xml" /><Relationship Id="rId6" Type="http://schemas.openxmlformats.org/officeDocument/2006/relationships/slideLayout" Target="../slideLayouts/slideLayout17.xml" /><Relationship Id="rId11" Type="http://schemas.openxmlformats.org/officeDocument/2006/relationships/slideLayout" Target="../slideLayouts/slideLayout22.xml" /><Relationship Id="rId5" Type="http://schemas.openxmlformats.org/officeDocument/2006/relationships/slideLayout" Target="../slideLayouts/slideLayout16.xml" /><Relationship Id="rId15" Type="http://schemas.openxmlformats.org/officeDocument/2006/relationships/slideLayout" Target="../slideLayouts/slideLayout26.xml" /><Relationship Id="rId10" Type="http://schemas.openxmlformats.org/officeDocument/2006/relationships/slideLayout" Target="../slideLayouts/slideLayout21.xml" /><Relationship Id="rId4" Type="http://schemas.openxmlformats.org/officeDocument/2006/relationships/slideLayout" Target="../slideLayouts/slideLayout15.xml" /><Relationship Id="rId9" Type="http://schemas.openxmlformats.org/officeDocument/2006/relationships/slideLayout" Target="../slideLayouts/slideLayout20.xml" /><Relationship Id="rId14" Type="http://schemas.openxmlformats.org/officeDocument/2006/relationships/slideLayout" Target="../slideLayouts/slideLayout25.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8A87A34-81AB-432B-8DAE-1953F412C126}" type="datetimeFigureOut">
              <a:rPr lang="en-US" smtClean="0"/>
              <a:t>11/7/2024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D22F896-40B5-4ADD-8801-0D06FADFA095}"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t>11/7/2024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D22F896-40B5-4ADD-8801-0D06FADFA09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6.xml" /></Relationships>
</file>

<file path=ppt/slides/_rels/slide1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6.xml" /></Relationships>
</file>

<file path=ppt/slides/_rels/slide13.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6.xml" /></Relationships>
</file>

<file path=ppt/slides/_rels/slide14.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6.xml" /></Relationships>
</file>

<file path=ppt/slides/_rels/slide15.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0894" y="130130"/>
            <a:ext cx="10213191" cy="1539686"/>
          </a:xfrm>
        </p:spPr>
        <p:txBody>
          <a:bodyPr>
            <a:normAutofit/>
          </a:bodyPr>
          <a:lstStyle/>
          <a:p>
            <a:pPr algn="ctr"/>
            <a:r>
              <a:rPr lang="en-IN" sz="4800" dirty="0">
                <a:latin typeface="Times New Roman" panose="02020603050405020304" pitchFamily="18" charset="0"/>
                <a:cs typeface="Times New Roman" panose="02020603050405020304" pitchFamily="18" charset="0"/>
              </a:rPr>
              <a:t>HOUSE PRICE PREDICTION</a:t>
            </a:r>
          </a:p>
        </p:txBody>
      </p:sp>
      <p:sp>
        <p:nvSpPr>
          <p:cNvPr id="3" name="Subtitle 2"/>
          <p:cNvSpPr>
            <a:spLocks noGrp="1"/>
          </p:cNvSpPr>
          <p:nvPr>
            <p:ph type="subTitle" idx="1"/>
          </p:nvPr>
        </p:nvSpPr>
        <p:spPr>
          <a:xfrm>
            <a:off x="2940294" y="4413244"/>
            <a:ext cx="8637072" cy="1759253"/>
          </a:xfrm>
        </p:spPr>
        <p:txBody>
          <a:bodyPr>
            <a:noAutofit/>
          </a:bodyPr>
          <a:lstStyle/>
          <a:p>
            <a:pPr algn="r"/>
            <a:r>
              <a:rPr lang="en-IN" sz="2000" dirty="0"/>
              <a:t> </a:t>
            </a:r>
            <a:r>
              <a:rPr lang="en-IN" dirty="0">
                <a:latin typeface="Times New Roman" panose="02020603050405020304" pitchFamily="18" charset="0"/>
                <a:cs typeface="Times New Roman" panose="02020603050405020304" pitchFamily="18" charset="0"/>
              </a:rPr>
              <a:t>A. VINEELANJALI(22N31A0511)</a:t>
            </a:r>
          </a:p>
          <a:p>
            <a:pPr algn="r"/>
            <a:r>
              <a:rPr lang="en-IN" dirty="0"/>
              <a:t>                                               </a:t>
            </a:r>
            <a:r>
              <a:rPr lang="en-IN" dirty="0">
                <a:latin typeface="Times New Roman" panose="02020603050405020304" pitchFamily="18" charset="0"/>
                <a:cs typeface="Times New Roman" panose="02020603050405020304" pitchFamily="18" charset="0"/>
              </a:rPr>
              <a:t>D. ROHITH SAI(22N31A0545)</a:t>
            </a:r>
          </a:p>
          <a:p>
            <a:pPr algn="r"/>
            <a:r>
              <a:rPr lang="en-IN" kern="1200" cap="all" baseline="0" dirty="0">
                <a:solidFill>
                  <a:srgbClr val="000000"/>
                </a:solidFill>
                <a:effectLst/>
                <a:latin typeface="Times New Roman" panose="02020603050405020304" pitchFamily="18" charset="0"/>
                <a:cs typeface="Times New Roman" panose="02020603050405020304" pitchFamily="18" charset="0"/>
              </a:rPr>
              <a:t>B. PAVAN ADITYA(22N31A0529</a:t>
            </a:r>
            <a:r>
              <a:rPr lang="en-IN" kern="1200" cap="all" baseline="0" dirty="0">
                <a:solidFill>
                  <a:srgbClr val="000000"/>
                </a:solidFill>
                <a:effectLst/>
                <a:latin typeface="Gill Sans MT" panose="020B0502020104020203" pitchFamily="34" charset="0"/>
                <a:ea typeface="+mn-ea"/>
                <a:cs typeface="+mn-cs"/>
              </a:rPr>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rcet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79894" y="144555"/>
            <a:ext cx="1765176"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3043518" y="1763823"/>
            <a:ext cx="6104964" cy="923330"/>
          </a:xfrm>
          <a:prstGeom prst="rect">
            <a:avLst/>
          </a:prstGeom>
          <a:noFill/>
        </p:spPr>
        <p:txBody>
          <a:bodyPr wrap="square">
            <a:spAutoFit/>
          </a:bodyPr>
          <a:lstStyle/>
          <a:p>
            <a:pPr algn="ctr"/>
            <a:r>
              <a:rPr lang="en-IN" sz="1800" b="1"/>
              <a:t>Malla Reddy College of Engineering &amp; Technology</a:t>
            </a:r>
            <a:endParaRPr lang="en-IN" sz="1800"/>
          </a:p>
          <a:p>
            <a:pPr algn="ctr"/>
            <a:r>
              <a:rPr lang="en-US" sz="1800"/>
              <a:t>(Autonomous Institution- UGC, Govt. of India)</a:t>
            </a:r>
            <a:endParaRPr lang="en-IN" sz="1800"/>
          </a:p>
          <a:p>
            <a:pPr algn="ctr"/>
            <a:r>
              <a:rPr lang="en-US" sz="1800"/>
              <a:t> (Affiliated to JNTUH, Hyderabad, </a:t>
            </a:r>
            <a:endParaRPr lang="en-US" sz="1100" dirty="0"/>
          </a:p>
        </p:txBody>
      </p:sp>
      <p:sp>
        <p:nvSpPr>
          <p:cNvPr id="6" name="TextBox 5"/>
          <p:cNvSpPr txBox="1"/>
          <p:nvPr/>
        </p:nvSpPr>
        <p:spPr>
          <a:xfrm>
            <a:off x="3052482" y="2835559"/>
            <a:ext cx="6104964" cy="1200329"/>
          </a:xfrm>
          <a:prstGeom prst="rect">
            <a:avLst/>
          </a:prstGeom>
          <a:noFill/>
        </p:spPr>
        <p:txBody>
          <a:bodyPr wrap="square">
            <a:spAutoFit/>
          </a:bodyPr>
          <a:lstStyle/>
          <a:p>
            <a:pPr lvl="0" algn="ctr" fontAlgn="base">
              <a:spcBef>
                <a:spcPct val="0"/>
              </a:spcBef>
              <a:spcAft>
                <a:spcPct val="0"/>
              </a:spcAft>
            </a:pPr>
            <a:r>
              <a:rPr kumimoji="0" lang="en-US"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Internal</a:t>
            </a:r>
            <a:r>
              <a:rPr kumimoji="0" lang="en-US" sz="1800" b="0" i="0" u="none" strike="noStrike" cap="none" normalizeH="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Guide</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M</a:t>
            </a:r>
            <a:r>
              <a:rPr lang="en-IN" dirty="0">
                <a:latin typeface="Times New Roman" panose="02020603050405020304" pitchFamily="18" charset="0"/>
                <a:cs typeface="Times New Roman" panose="02020603050405020304" pitchFamily="18" charset="0"/>
              </a:rPr>
              <a:t>s.P.L.Shailaja</a:t>
            </a:r>
            <a:endParaRPr lang="en-US" sz="1800" dirty="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Assistant Professor</a:t>
            </a:r>
          </a:p>
          <a:p>
            <a:pPr algn="ctr"/>
            <a:r>
              <a:rPr lang="en-SG" sz="1800" dirty="0">
                <a:latin typeface="Times New Roman" panose="02020603050405020304" pitchFamily="18" charset="0"/>
                <a:cs typeface="Times New Roman" panose="02020603050405020304" pitchFamily="18" charset="0"/>
              </a:rPr>
              <a:t>Department of Computer Science and Engineering</a:t>
            </a:r>
            <a:endParaRPr lang="en-US" sz="1800" dirty="0"/>
          </a:p>
        </p:txBody>
      </p:sp>
      <p:sp>
        <p:nvSpPr>
          <p:cNvPr id="8" name="TextBox 7"/>
          <p:cNvSpPr txBox="1"/>
          <p:nvPr/>
        </p:nvSpPr>
        <p:spPr>
          <a:xfrm>
            <a:off x="3052594" y="4270654"/>
            <a:ext cx="6104964" cy="1876425"/>
          </a:xfrm>
          <a:prstGeom prst="rect">
            <a:avLst/>
          </a:prstGeom>
          <a:noFill/>
        </p:spPr>
        <p:txBody>
          <a:bodyPr wrap="square">
            <a:spAutoFit/>
          </a:bodyPr>
          <a:lstStyle/>
          <a:p>
            <a:pPr lvl="0" algn="ctr" fontAlgn="base">
              <a:spcBef>
                <a:spcPct val="0"/>
              </a:spcBef>
              <a:spcAft>
                <a:spcPct val="0"/>
              </a:spcAft>
            </a:pPr>
            <a:r>
              <a:rPr lang="en-US" b="1" dirty="0">
                <a:latin typeface="Times New Roman" panose="02020603050405020304" pitchFamily="18" charset="0"/>
                <a:ea typeface="Calibri" panose="020F0502020204030204" pitchFamily="34" charset="0"/>
                <a:cs typeface="Times New Roman" panose="02020603050405020304" pitchFamily="18" charset="0"/>
              </a:rPr>
              <a:t>Project Team  Members</a:t>
            </a:r>
          </a:p>
          <a:p>
            <a:pPr lvl="0" fontAlgn="base">
              <a:spcBef>
                <a:spcPct val="0"/>
              </a:spcBef>
              <a:spcAft>
                <a:spcPct val="0"/>
              </a:spcAft>
            </a:pP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lvl="0" fontAlgn="base">
              <a:spcBef>
                <a:spcPct val="0"/>
              </a:spcBef>
              <a:spcAft>
                <a:spcPct val="0"/>
              </a:spcAft>
            </a:pPr>
            <a:r>
              <a:rPr lang="en-US" alt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ea typeface="Calibri" panose="020F0502020204030204" pitchFamily="34" charset="0"/>
                <a:cs typeface="Times New Roman" panose="02020603050405020304" pitchFamily="18" charset="0"/>
              </a:rPr>
              <a:t>A. VINEELANJALI                    22N31A0511</a:t>
            </a:r>
          </a:p>
          <a:p>
            <a:pPr lvl="0" fontAlgn="base">
              <a:spcBef>
                <a:spcPct val="0"/>
              </a:spcBef>
              <a:spcAft>
                <a:spcPct val="0"/>
              </a:spcAft>
            </a:pPr>
            <a:r>
              <a:rPr lang="en-US" alt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ea typeface="Calibri" panose="020F0502020204030204" pitchFamily="34" charset="0"/>
                <a:cs typeface="Times New Roman" panose="02020603050405020304" pitchFamily="18" charset="0"/>
              </a:rPr>
              <a:t>D. ROHITH SAI         		   22N31A0545</a:t>
            </a:r>
          </a:p>
          <a:p>
            <a:pPr lvl="0" fontAlgn="base">
              <a:spcBef>
                <a:spcPct val="0"/>
              </a:spcBef>
              <a:spcAft>
                <a:spcPct val="0"/>
              </a:spcAft>
            </a:pPr>
            <a:r>
              <a:rPr lang="en-US" alt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ea typeface="Calibri" panose="020F0502020204030204" pitchFamily="34" charset="0"/>
                <a:cs typeface="Times New Roman" panose="02020603050405020304" pitchFamily="18" charset="0"/>
              </a:rPr>
              <a:t>B. PAVAN ADITYA                     22N31A0529</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gn="r"/>
            <a:r>
              <a:rPr lang="en-US" dirty="0">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436880"/>
            <a:ext cx="9530854" cy="1391919"/>
          </a:xfrm>
        </p:spPr>
        <p:txBody>
          <a:bodyPr>
            <a:normAutofit/>
          </a:bodyPr>
          <a:lstStyle/>
          <a:p>
            <a:pPr algn="just"/>
            <a:r>
              <a:rPr lang="en-IN" sz="4000" dirty="0">
                <a:latin typeface="Times New Roman" panose="02020603050405020304" pitchFamily="18" charset="0"/>
                <a:cs typeface="Times New Roman" panose="02020603050405020304" pitchFamily="18" charset="0"/>
              </a:rPr>
              <a:t>                       ABSTRACT</a:t>
            </a:r>
          </a:p>
        </p:txBody>
      </p:sp>
      <p:sp>
        <p:nvSpPr>
          <p:cNvPr id="3" name="Content Placeholder 2"/>
          <p:cNvSpPr>
            <a:spLocks noGrp="1"/>
          </p:cNvSpPr>
          <p:nvPr>
            <p:ph idx="1"/>
          </p:nvPr>
        </p:nvSpPr>
        <p:spPr>
          <a:xfrm>
            <a:off x="776853" y="1931435"/>
            <a:ext cx="10638294" cy="4074690"/>
          </a:xfrm>
        </p:spPr>
        <p:txBody>
          <a:bodyPr>
            <a:noAutofit/>
          </a:bodyPr>
          <a:lstStyle/>
          <a:p>
            <a:pPr marL="0" indent="0" algn="just">
              <a:buNone/>
            </a:pPr>
            <a:r>
              <a:rPr lang="en-US" sz="2400" dirty="0">
                <a:solidFill>
                  <a:srgbClr val="0E101A"/>
                </a:solidFill>
                <a:effectLst/>
                <a:latin typeface="Times New Roman" panose="02020603050405020304" pitchFamily="18" charset="0"/>
                <a:ea typeface="Times New Roman" panose="02020603050405020304" pitchFamily="18" charset="0"/>
              </a:rPr>
              <a:t>In today’s world many people have a doubt about the prices of their dream house which usually results in them buying the house for highly inflated prices and overpaying due to the commissions taken by the brokers. Our project Wise Price Vision aims to reduce this problem and give an application which is going to predict the correct prices and save innocent people from these scams. The project Wise Price Vision uses the Machine Learning concept where the users give the square feet, BHK and number of bathrooms as input and based on the location of the apartment it predicts the price of the apartment.</a:t>
            </a:r>
            <a:endParaRPr lang="en-IN" sz="2400" dirty="0">
              <a:solidFill>
                <a:srgbClr val="0E101A"/>
              </a:solidFill>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OBJECTIVE AND SCOPE OF THE PROJECT </a:t>
            </a:r>
            <a:r>
              <a:rPr lang="en-IN" sz="4000" dirty="0">
                <a:latin typeface="Algerian" panose="04020705040A02060702" pitchFamily="82" charset="0"/>
              </a:rPr>
              <a:t>:</a:t>
            </a:r>
          </a:p>
        </p:txBody>
      </p:sp>
      <p:sp>
        <p:nvSpPr>
          <p:cNvPr id="3" name="Content Placeholder 2"/>
          <p:cNvSpPr>
            <a:spLocks noGrp="1"/>
          </p:cNvSpPr>
          <p:nvPr>
            <p:ph idx="1"/>
          </p:nvPr>
        </p:nvSpPr>
        <p:spPr>
          <a:xfrm>
            <a:off x="1451610" y="1853565"/>
            <a:ext cx="9010015" cy="3880485"/>
          </a:xfrm>
        </p:spPr>
        <p:txBody>
          <a:bodyPr>
            <a:normAutofit lnSpcReduction="20000"/>
          </a:bodyPr>
          <a:lstStyle/>
          <a:p>
            <a:pPr algn="just">
              <a:lnSpc>
                <a:spcPct val="150000"/>
              </a:lnSpc>
              <a:buFont typeface="Wingdings" panose="05000000000000000000" charset="0"/>
              <a:buChar char="Ø"/>
            </a:pPr>
            <a:r>
              <a:rPr lang="en-US" b="0" i="0" dirty="0">
                <a:effectLst/>
                <a:latin typeface="Times New Roman" panose="02020603050405020304" pitchFamily="18" charset="0"/>
                <a:cs typeface="Times New Roman" panose="02020603050405020304" pitchFamily="18" charset="0"/>
              </a:rPr>
              <a:t>The objective of house price prediction is to forecast the market value of residential properties accurately.</a:t>
            </a:r>
          </a:p>
          <a:p>
            <a:pPr algn="just">
              <a:lnSpc>
                <a:spcPct val="150000"/>
              </a:lnSpc>
              <a:buFont typeface="Wingdings" panose="05000000000000000000" charset="0"/>
              <a:buChar char="Ø"/>
            </a:pPr>
            <a:r>
              <a:rPr lang="en-US" b="0" i="0"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a:t>
            </a:r>
            <a:r>
              <a:rPr lang="en-US" b="0" i="0" dirty="0">
                <a:effectLst/>
                <a:latin typeface="Times New Roman" panose="02020603050405020304" pitchFamily="18" charset="0"/>
                <a:cs typeface="Times New Roman" panose="02020603050405020304" pitchFamily="18" charset="0"/>
              </a:rPr>
              <a:t>ccurate price predictions aid in making informed decisions regarding property transactions and ensuring fair deals. </a:t>
            </a:r>
          </a:p>
          <a:p>
            <a:pPr algn="just">
              <a:lnSpc>
                <a:spcPct val="150000"/>
              </a:lnSpc>
              <a:buFont typeface="Wingdings" panose="05000000000000000000" charset="0"/>
              <a:buChar char="Ø"/>
            </a:pPr>
            <a:r>
              <a:rPr lang="en-US" b="0" i="0" dirty="0">
                <a:effectLst/>
                <a:latin typeface="Times New Roman" panose="02020603050405020304" pitchFamily="18" charset="0"/>
                <a:cs typeface="Times New Roman" panose="02020603050405020304" pitchFamily="18" charset="0"/>
              </a:rPr>
              <a:t>The scope of house price prediction extends across various domains within the real estate industry, finance, urban planning, and policymaking.</a:t>
            </a:r>
          </a:p>
          <a:p>
            <a:pPr algn="just">
              <a:lnSpc>
                <a:spcPct val="150000"/>
              </a:lnSpc>
              <a:buFont typeface="Wingdings" panose="05000000000000000000" charset="0"/>
              <a:buChar char="Ø"/>
            </a:pPr>
            <a:r>
              <a:rPr lang="en-US" b="0" i="0" dirty="0">
                <a:effectLst/>
                <a:latin typeface="Times New Roman" panose="02020603050405020304" pitchFamily="18" charset="0"/>
                <a:cs typeface="Times New Roman" panose="02020603050405020304" pitchFamily="18" charset="0"/>
              </a:rPr>
              <a:t> At its core, it involves the development and application of predictive models to estimate the market value of residential properties.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 </a:t>
            </a:r>
            <a:r>
              <a:rPr lang="en-US" altLang="en-IN" sz="4000" dirty="0">
                <a:latin typeface="Times New Roman" panose="02020603050405020304" pitchFamily="18" charset="0"/>
                <a:cs typeface="Times New Roman" panose="02020603050405020304" pitchFamily="18" charset="0"/>
              </a:rPr>
              <a:t>Existing System</a:t>
            </a:r>
            <a:r>
              <a:rPr lang="en-IN" sz="4000" dirty="0">
                <a:latin typeface="Algerian" panose="04020705040A02060702" pitchFamily="82" charset="0"/>
              </a:rPr>
              <a:t>:</a:t>
            </a:r>
          </a:p>
        </p:txBody>
      </p:sp>
      <p:sp>
        <p:nvSpPr>
          <p:cNvPr id="3" name="Content Placeholder 2"/>
          <p:cNvSpPr>
            <a:spLocks noGrp="1"/>
          </p:cNvSpPr>
          <p:nvPr>
            <p:ph idx="1"/>
          </p:nvPr>
        </p:nvSpPr>
        <p:spPr>
          <a:xfrm>
            <a:off x="1451610" y="1853565"/>
            <a:ext cx="9097010" cy="3880485"/>
          </a:xfrm>
        </p:spPr>
        <p:txBody>
          <a:bodyPr>
            <a:noAutofit/>
          </a:bodyPr>
          <a:lstStyle/>
          <a:p>
            <a:pPr algn="just">
              <a:lnSpc>
                <a:spcPct val="150000"/>
              </a:lnSpc>
              <a:buFont typeface="Wingdings" panose="05000000000000000000" charset="0"/>
              <a:buChar char="Ø"/>
            </a:pPr>
            <a:r>
              <a:rPr lang="en-US" sz="1700" b="0" i="0" dirty="0">
                <a:effectLst/>
                <a:latin typeface="Times New Roman" panose="02020603050405020304" pitchFamily="18" charset="0"/>
                <a:cs typeface="Times New Roman" panose="02020603050405020304" pitchFamily="18" charset="0"/>
              </a:rPr>
              <a:t>Data Collection: Gathers data from multiple sources like property listings, sales history, economic indicators, and demographics.</a:t>
            </a:r>
          </a:p>
          <a:p>
            <a:pPr algn="just">
              <a:lnSpc>
                <a:spcPct val="150000"/>
              </a:lnSpc>
              <a:buFont typeface="Wingdings" panose="05000000000000000000" charset="0"/>
              <a:buChar char="Ø"/>
            </a:pPr>
            <a:r>
              <a:rPr lang="en-US" sz="1700" b="0" i="0" dirty="0">
                <a:effectLst/>
                <a:latin typeface="Times New Roman" panose="02020603050405020304" pitchFamily="18" charset="0"/>
                <a:cs typeface="Times New Roman" panose="02020603050405020304" pitchFamily="18" charset="0"/>
              </a:rPr>
              <a:t>Data Preprocessing: Cleans, normalizes, and engineers features to make the data usable for prediction models.</a:t>
            </a:r>
          </a:p>
          <a:p>
            <a:pPr algn="just">
              <a:lnSpc>
                <a:spcPct val="150000"/>
              </a:lnSpc>
              <a:buFont typeface="Wingdings" panose="05000000000000000000" charset="0"/>
              <a:buChar char="Ø"/>
            </a:pPr>
            <a:r>
              <a:rPr lang="en-US" sz="1700" b="0" i="0" dirty="0">
                <a:effectLst/>
                <a:latin typeface="Times New Roman" panose="02020603050405020304" pitchFamily="18" charset="0"/>
                <a:cs typeface="Times New Roman" panose="02020603050405020304" pitchFamily="18" charset="0"/>
              </a:rPr>
              <a:t>Feature Extraction: Identifies key factors such as location, size, and amenities affecting house prices.</a:t>
            </a:r>
          </a:p>
          <a:p>
            <a:pPr algn="just">
              <a:lnSpc>
                <a:spcPct val="150000"/>
              </a:lnSpc>
              <a:buFont typeface="Wingdings" panose="05000000000000000000" charset="0"/>
              <a:buChar char="Ø"/>
            </a:pPr>
            <a:r>
              <a:rPr lang="en-US" sz="1700" b="0" i="0" dirty="0">
                <a:effectLst/>
                <a:latin typeface="Times New Roman" panose="02020603050405020304" pitchFamily="18" charset="0"/>
                <a:cs typeface="Times New Roman" panose="02020603050405020304" pitchFamily="18" charset="0"/>
              </a:rPr>
              <a:t>Price Prediction: Uses models to estimate house prices based on processed data.</a:t>
            </a:r>
          </a:p>
          <a:p>
            <a:pPr algn="just">
              <a:lnSpc>
                <a:spcPct val="150000"/>
              </a:lnSpc>
              <a:buFont typeface="Wingdings" panose="05000000000000000000" charset="0"/>
              <a:buChar char="Ø"/>
            </a:pPr>
            <a:r>
              <a:rPr lang="en-US" sz="1700" b="0" i="0" dirty="0">
                <a:effectLst/>
                <a:latin typeface="Times New Roman" panose="02020603050405020304" pitchFamily="18" charset="0"/>
                <a:cs typeface="Times New Roman" panose="02020603050405020304" pitchFamily="18" charset="0"/>
              </a:rPr>
              <a:t>Limitations: Lacks user interaction and may not provide real-time or highly accurate predictions..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 </a:t>
            </a:r>
            <a:r>
              <a:rPr lang="en-US" altLang="en-IN" sz="4000" dirty="0">
                <a:latin typeface="Times New Roman" panose="02020603050405020304" pitchFamily="18" charset="0"/>
                <a:cs typeface="Times New Roman" panose="02020603050405020304" pitchFamily="18" charset="0"/>
              </a:rPr>
              <a:t>Proposed System</a:t>
            </a:r>
            <a:r>
              <a:rPr lang="en-IN" sz="4000" dirty="0">
                <a:latin typeface="Algerian" panose="04020705040A02060702" pitchFamily="82" charset="0"/>
              </a:rPr>
              <a:t>:</a:t>
            </a:r>
          </a:p>
        </p:txBody>
      </p:sp>
      <p:sp>
        <p:nvSpPr>
          <p:cNvPr id="3" name="Content Placeholder 2"/>
          <p:cNvSpPr>
            <a:spLocks noGrp="1"/>
          </p:cNvSpPr>
          <p:nvPr>
            <p:ph idx="1"/>
          </p:nvPr>
        </p:nvSpPr>
        <p:spPr>
          <a:xfrm>
            <a:off x="1451610" y="1853565"/>
            <a:ext cx="10090785" cy="3880485"/>
          </a:xfrm>
        </p:spPr>
        <p:txBody>
          <a:bodyPr>
            <a:noAutofit/>
          </a:bodyPr>
          <a:lstStyle/>
          <a:p>
            <a:pPr algn="just">
              <a:lnSpc>
                <a:spcPct val="150000"/>
              </a:lnSpc>
              <a:buFont typeface="Wingdings" panose="05000000000000000000" charset="0"/>
              <a:buChar char="Ø"/>
            </a:pPr>
            <a:r>
              <a:rPr lang="en-US" sz="1700" b="0" i="0" dirty="0">
                <a:effectLst/>
                <a:latin typeface="Times New Roman" panose="02020603050405020304" pitchFamily="18" charset="0"/>
                <a:cs typeface="Times New Roman" panose="02020603050405020304" pitchFamily="18" charset="0"/>
              </a:rPr>
              <a:t>User-Friendly Interface: Develops an intuitive interface for users to input property details like size, BHK, and number of bathrooms.</a:t>
            </a:r>
          </a:p>
          <a:p>
            <a:pPr algn="just">
              <a:lnSpc>
                <a:spcPct val="150000"/>
              </a:lnSpc>
              <a:buFont typeface="Wingdings" panose="05000000000000000000" charset="0"/>
              <a:buChar char="Ø"/>
            </a:pPr>
            <a:r>
              <a:rPr lang="en-US" sz="1700" b="0" i="0" dirty="0">
                <a:effectLst/>
                <a:latin typeface="Times New Roman" panose="02020603050405020304" pitchFamily="18" charset="0"/>
                <a:cs typeface="Times New Roman" panose="02020603050405020304" pitchFamily="18" charset="0"/>
              </a:rPr>
              <a:t>Real-Time Data Input: Allows users to input real-time property features, such as location, square footage, and amenities.</a:t>
            </a:r>
          </a:p>
          <a:p>
            <a:pPr algn="just">
              <a:lnSpc>
                <a:spcPct val="150000"/>
              </a:lnSpc>
              <a:buFont typeface="Wingdings" panose="05000000000000000000" charset="0"/>
              <a:buChar char="Ø"/>
            </a:pPr>
            <a:r>
              <a:rPr lang="en-US" sz="1700" b="0" i="0" dirty="0">
                <a:effectLst/>
                <a:latin typeface="Times New Roman" panose="02020603050405020304" pitchFamily="18" charset="0"/>
                <a:cs typeface="Times New Roman" panose="02020603050405020304" pitchFamily="18" charset="0"/>
              </a:rPr>
              <a:t>Accurate Price Prediction: Utilizes advanced machine learning models to predict house prices based on current data and location-specific factors.</a:t>
            </a:r>
          </a:p>
          <a:p>
            <a:pPr algn="just">
              <a:lnSpc>
                <a:spcPct val="150000"/>
              </a:lnSpc>
              <a:buFont typeface="Wingdings" panose="05000000000000000000" charset="0"/>
              <a:buChar char="Ø"/>
            </a:pPr>
            <a:r>
              <a:rPr lang="en-US" sz="1700" b="0" i="0" dirty="0">
                <a:effectLst/>
                <a:latin typeface="Times New Roman" panose="02020603050405020304" pitchFamily="18" charset="0"/>
                <a:cs typeface="Times New Roman" panose="02020603050405020304" pitchFamily="18" charset="0"/>
              </a:rPr>
              <a:t>Visualization and Insights: Provides users with detailed price predictions, relevant insights, and visualizations for better decision-making.</a:t>
            </a:r>
          </a:p>
          <a:p>
            <a:pPr algn="just">
              <a:lnSpc>
                <a:spcPct val="150000"/>
              </a:lnSpc>
              <a:buFont typeface="Wingdings" panose="05000000000000000000" charset="0"/>
              <a:buChar char="Ø"/>
            </a:pPr>
            <a:r>
              <a:rPr lang="en-US" sz="1700" b="0" i="0" dirty="0">
                <a:effectLst/>
                <a:latin typeface="Times New Roman" panose="02020603050405020304" pitchFamily="18" charset="0"/>
                <a:cs typeface="Times New Roman" panose="02020603050405020304" pitchFamily="18" charset="0"/>
              </a:rPr>
              <a:t>Improved Interaction: Enhances user experience by delivering real-time, personalized, and interactive feedback.</a:t>
            </a:r>
          </a:p>
          <a:p>
            <a:pPr algn="just">
              <a:lnSpc>
                <a:spcPct val="150000"/>
              </a:lnSpc>
              <a:buFont typeface="Wingdings" panose="05000000000000000000" charset="0"/>
              <a:buChar char="Ø"/>
            </a:pPr>
            <a:endParaRPr lang="en-US" sz="1700" b="0" i="0" dirty="0">
              <a:effectLst/>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endParaRPr lang="en-US" sz="1700" b="0" i="0" dirty="0">
              <a:effectLst/>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endParaRPr lang="en-US" sz="1700" b="0" i="0" dirty="0">
              <a:effectLst/>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endParaRPr lang="en-US" sz="1700" b="0" i="0" dirty="0">
              <a:effectLst/>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endParaRPr lang="en-US" sz="1700" b="0"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latin typeface="Times New Roman" panose="02020603050405020304" pitchFamily="18" charset="0"/>
                <a:cs typeface="Times New Roman" panose="02020603050405020304" pitchFamily="18" charset="0"/>
              </a:rPr>
              <a:t>LITERATURE REVIEW </a:t>
            </a:r>
            <a:r>
              <a:rPr lang="en-IN"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1497965" y="2237740"/>
          <a:ext cx="8596630" cy="3159760"/>
        </p:xfrm>
        <a:graphic>
          <a:graphicData uri="http://schemas.openxmlformats.org/drawingml/2006/table">
            <a:tbl>
              <a:tblPr firstRow="1" bandRow="1">
                <a:tableStyleId>{5C22544A-7EE6-4342-B048-85BDC9FD1C3A}</a:tableStyleId>
              </a:tblPr>
              <a:tblGrid>
                <a:gridCol w="4298315">
                  <a:extLst>
                    <a:ext uri="{9D8B030D-6E8A-4147-A177-3AD203B41FA5}">
                      <a16:colId xmlns:a16="http://schemas.microsoft.com/office/drawing/2014/main" val="20000"/>
                    </a:ext>
                  </a:extLst>
                </a:gridCol>
                <a:gridCol w="4298315">
                  <a:extLst>
                    <a:ext uri="{9D8B030D-6E8A-4147-A177-3AD203B41FA5}">
                      <a16:colId xmlns:a16="http://schemas.microsoft.com/office/drawing/2014/main" val="20001"/>
                    </a:ext>
                  </a:extLst>
                </a:gridCol>
              </a:tblGrid>
              <a:tr h="789940">
                <a:tc>
                  <a:txBody>
                    <a:bodyPr/>
                    <a:lstStyle/>
                    <a:p>
                      <a:pPr algn="ctr">
                        <a:buNone/>
                      </a:pPr>
                      <a:r>
                        <a:rPr lang="en-US" sz="3200">
                          <a:latin typeface="Times New Roman" panose="02020603050405020304" pitchFamily="18" charset="0"/>
                          <a:cs typeface="Times New Roman" panose="02020603050405020304" pitchFamily="18" charset="0"/>
                        </a:rPr>
                        <a:t>AUTHOR</a:t>
                      </a:r>
                    </a:p>
                  </a:txBody>
                  <a:tcPr>
                    <a:solidFill>
                      <a:schemeClr val="bg2">
                        <a:lumMod val="75000"/>
                      </a:schemeClr>
                    </a:solidFill>
                  </a:tcPr>
                </a:tc>
                <a:tc>
                  <a:txBody>
                    <a:bodyPr/>
                    <a:lstStyle/>
                    <a:p>
                      <a:pPr algn="ctr">
                        <a:buNone/>
                      </a:pPr>
                      <a:r>
                        <a:rPr lang="en-US" sz="2800">
                          <a:latin typeface="Times New Roman" panose="02020603050405020304" pitchFamily="18" charset="0"/>
                          <a:cs typeface="Times New Roman" panose="02020603050405020304" pitchFamily="18" charset="0"/>
                        </a:rPr>
                        <a:t>METHOD USED</a:t>
                      </a:r>
                    </a:p>
                  </a:txBody>
                  <a:tcPr>
                    <a:solidFill>
                      <a:schemeClr val="bg2">
                        <a:lumMod val="75000"/>
                      </a:schemeClr>
                    </a:solidFill>
                  </a:tcPr>
                </a:tc>
                <a:extLst>
                  <a:ext uri="{0D108BD9-81ED-4DB2-BD59-A6C34878D82A}">
                    <a16:rowId xmlns:a16="http://schemas.microsoft.com/office/drawing/2014/main" val="10000"/>
                  </a:ext>
                </a:extLst>
              </a:tr>
              <a:tr h="789940">
                <a:tc>
                  <a:txBody>
                    <a:bodyPr/>
                    <a:lstStyle/>
                    <a:p>
                      <a:pPr>
                        <a:buNone/>
                      </a:pPr>
                      <a:r>
                        <a:rPr lang="en-US" sz="1800" dirty="0">
                          <a:latin typeface="Times New Roman" panose="02020603050405020304" pitchFamily="18" charset="0"/>
                          <a:cs typeface="Times New Roman" panose="02020603050405020304" pitchFamily="18" charset="0"/>
                          <a:sym typeface="+mn-ea"/>
                        </a:rPr>
                        <a:t>Anand G. </a:t>
                      </a:r>
                      <a:r>
                        <a:rPr lang="en-US" sz="1800" dirty="0" err="1">
                          <a:latin typeface="Times New Roman" panose="02020603050405020304" pitchFamily="18" charset="0"/>
                          <a:cs typeface="Times New Roman" panose="02020603050405020304" pitchFamily="18" charset="0"/>
                          <a:sym typeface="+mn-ea"/>
                        </a:rPr>
                        <a:t>Rawool</a:t>
                      </a:r>
                      <a:r>
                        <a:rPr lang="en-US" sz="1800" dirty="0">
                          <a:latin typeface="Times New Roman" panose="02020603050405020304" pitchFamily="18" charset="0"/>
                          <a:cs typeface="Times New Roman" panose="02020603050405020304" pitchFamily="18" charset="0"/>
                          <a:sym typeface="+mn-ea"/>
                        </a:rPr>
                        <a:t> , Dattatray V. </a:t>
                      </a:r>
                      <a:r>
                        <a:rPr lang="en-US" sz="1800" dirty="0" err="1">
                          <a:latin typeface="Times New Roman" panose="02020603050405020304" pitchFamily="18" charset="0"/>
                          <a:cs typeface="Times New Roman" panose="02020603050405020304" pitchFamily="18" charset="0"/>
                          <a:sym typeface="+mn-ea"/>
                        </a:rPr>
                        <a:t>Rogye</a:t>
                      </a:r>
                      <a:r>
                        <a:rPr lang="en-US" sz="1800" dirty="0">
                          <a:latin typeface="Times New Roman" panose="02020603050405020304" pitchFamily="18" charset="0"/>
                          <a:cs typeface="Times New Roman" panose="02020603050405020304" pitchFamily="18" charset="0"/>
                          <a:sym typeface="+mn-ea"/>
                        </a:rPr>
                        <a:t> , Sainath G. Rane , Dr. </a:t>
                      </a:r>
                      <a:r>
                        <a:rPr lang="en-US" sz="1800" dirty="0" err="1">
                          <a:latin typeface="Times New Roman" panose="02020603050405020304" pitchFamily="18" charset="0"/>
                          <a:cs typeface="Times New Roman" panose="02020603050405020304" pitchFamily="18" charset="0"/>
                          <a:sym typeface="+mn-ea"/>
                        </a:rPr>
                        <a:t>Vinayk</a:t>
                      </a:r>
                      <a:r>
                        <a:rPr lang="en-US" sz="1800" dirty="0">
                          <a:latin typeface="Times New Roman" panose="02020603050405020304" pitchFamily="18" charset="0"/>
                          <a:cs typeface="Times New Roman" panose="02020603050405020304" pitchFamily="18" charset="0"/>
                          <a:sym typeface="+mn-ea"/>
                        </a:rPr>
                        <a:t> A</a:t>
                      </a:r>
                      <a:endParaRPr lang="en-US"/>
                    </a:p>
                  </a:txBody>
                  <a:tcPr>
                    <a:solidFill>
                      <a:schemeClr val="bg2">
                        <a:lumMod val="75000"/>
                      </a:schemeClr>
                    </a:solidFill>
                  </a:tcPr>
                </a:tc>
                <a:tc>
                  <a:txBody>
                    <a:bodyPr/>
                    <a:lstStyle/>
                    <a:p>
                      <a:pPr>
                        <a:buNone/>
                      </a:pPr>
                      <a:r>
                        <a:rPr lang="en-US" sz="1800" dirty="0">
                          <a:latin typeface="Times New Roman" panose="02020603050405020304" pitchFamily="18" charset="0"/>
                          <a:cs typeface="Times New Roman" panose="02020603050405020304" pitchFamily="18" charset="0"/>
                          <a:sym typeface="+mn-ea"/>
                        </a:rPr>
                        <a:t> House Price Prediction Using Machine Learning, 2021.</a:t>
                      </a:r>
                      <a:endParaRPr lang="en-US"/>
                    </a:p>
                  </a:txBody>
                  <a:tcPr>
                    <a:solidFill>
                      <a:schemeClr val="bg2">
                        <a:lumMod val="75000"/>
                      </a:schemeClr>
                    </a:solidFill>
                  </a:tcPr>
                </a:tc>
                <a:extLst>
                  <a:ext uri="{0D108BD9-81ED-4DB2-BD59-A6C34878D82A}">
                    <a16:rowId xmlns:a16="http://schemas.microsoft.com/office/drawing/2014/main" val="10001"/>
                  </a:ext>
                </a:extLst>
              </a:tr>
              <a:tr h="789940">
                <a:tc>
                  <a:txBody>
                    <a:bodyPr/>
                    <a:lstStyle/>
                    <a:p>
                      <a:pPr>
                        <a:buNone/>
                      </a:pPr>
                      <a:r>
                        <a:rPr lang="en-US" sz="1800" dirty="0" err="1">
                          <a:latin typeface="Times New Roman" panose="02020603050405020304" pitchFamily="18" charset="0"/>
                          <a:cs typeface="Times New Roman" panose="02020603050405020304" pitchFamily="18" charset="0"/>
                          <a:sym typeface="+mn-ea"/>
                        </a:rPr>
                        <a:t>Chenhao</a:t>
                      </a:r>
                      <a:r>
                        <a:rPr lang="en-US" sz="1800" dirty="0">
                          <a:latin typeface="Times New Roman" panose="02020603050405020304" pitchFamily="18" charset="0"/>
                          <a:cs typeface="Times New Roman" panose="02020603050405020304" pitchFamily="18" charset="0"/>
                          <a:sym typeface="+mn-ea"/>
                        </a:rPr>
                        <a:t> Zhou</a:t>
                      </a:r>
                      <a:endParaRPr lang="en-US"/>
                    </a:p>
                  </a:txBody>
                  <a:tcPr>
                    <a:solidFill>
                      <a:schemeClr val="bg2">
                        <a:lumMod val="75000"/>
                      </a:schemeClr>
                    </a:solidFill>
                  </a:tcPr>
                </a:tc>
                <a:tc>
                  <a:txBody>
                    <a:bodyPr/>
                    <a:lstStyle/>
                    <a:p>
                      <a:pPr>
                        <a:buNone/>
                      </a:pPr>
                      <a:r>
                        <a:rPr lang="en-US" sz="1800" dirty="0">
                          <a:latin typeface="Times New Roman" panose="02020603050405020304" pitchFamily="18" charset="0"/>
                          <a:cs typeface="Times New Roman" panose="02020603050405020304" pitchFamily="18" charset="0"/>
                          <a:sym typeface="+mn-ea"/>
                        </a:rPr>
                        <a:t> House price prediction using polynomial regression with Particle Swarm Optimization, 2021.</a:t>
                      </a:r>
                      <a:endParaRPr lang="en-US"/>
                    </a:p>
                  </a:txBody>
                  <a:tcPr>
                    <a:solidFill>
                      <a:schemeClr val="bg2">
                        <a:lumMod val="75000"/>
                      </a:schemeClr>
                    </a:solidFill>
                  </a:tcPr>
                </a:tc>
                <a:extLst>
                  <a:ext uri="{0D108BD9-81ED-4DB2-BD59-A6C34878D82A}">
                    <a16:rowId xmlns:a16="http://schemas.microsoft.com/office/drawing/2014/main" val="10002"/>
                  </a:ext>
                </a:extLst>
              </a:tr>
              <a:tr h="789940">
                <a:tc>
                  <a:txBody>
                    <a:bodyPr/>
                    <a:lstStyle/>
                    <a:p>
                      <a:pPr>
                        <a:buNone/>
                      </a:pPr>
                      <a:r>
                        <a:rPr lang="en-US" sz="1800" dirty="0">
                          <a:latin typeface="Times New Roman" panose="02020603050405020304" pitchFamily="18" charset="0"/>
                          <a:cs typeface="Times New Roman" panose="02020603050405020304" pitchFamily="18" charset="0"/>
                          <a:sym typeface="+mn-ea"/>
                        </a:rPr>
                        <a:t>Anirudh Kaushal, Achyut Shankar</a:t>
                      </a:r>
                      <a:endParaRPr lang="en-US"/>
                    </a:p>
                  </a:txBody>
                  <a:tcPr>
                    <a:solidFill>
                      <a:schemeClr val="bg2">
                        <a:lumMod val="75000"/>
                      </a:schemeClr>
                    </a:solidFill>
                  </a:tcPr>
                </a:tc>
                <a:tc>
                  <a:txBody>
                    <a:bodyPr/>
                    <a:lstStyle/>
                    <a:p>
                      <a:pPr>
                        <a:buNone/>
                      </a:pPr>
                      <a:r>
                        <a:rPr lang="en-US" sz="1800" dirty="0">
                          <a:latin typeface="Times New Roman" panose="02020603050405020304" pitchFamily="18" charset="0"/>
                          <a:cs typeface="Times New Roman" panose="02020603050405020304" pitchFamily="18" charset="0"/>
                          <a:sym typeface="+mn-ea"/>
                        </a:rPr>
                        <a:t>House Price Prediction Using Machine Learning, 2021</a:t>
                      </a:r>
                      <a:endParaRPr lang="en-US" sz="1800" dirty="0">
                        <a:latin typeface="Times New Roman" panose="02020603050405020304" pitchFamily="18" charset="0"/>
                        <a:cs typeface="Times New Roman" panose="02020603050405020304" pitchFamily="18" charset="0"/>
                      </a:endParaRPr>
                    </a:p>
                    <a:p>
                      <a:pPr>
                        <a:buNone/>
                      </a:pPr>
                      <a:endParaRPr lang="en-US"/>
                    </a:p>
                  </a:txBody>
                  <a:tcPr>
                    <a:solidFill>
                      <a:schemeClr val="bg2">
                        <a:lumMod val="75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latin typeface="Times New Roman" panose="02020603050405020304" pitchFamily="18" charset="0"/>
                <a:cs typeface="Times New Roman" panose="02020603050405020304" pitchFamily="18" charset="0"/>
              </a:rPr>
              <a:t>LITERATURE REVIEW </a:t>
            </a:r>
            <a:r>
              <a:rPr lang="en-IN"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1497965" y="2237740"/>
          <a:ext cx="8596630" cy="3159760"/>
        </p:xfrm>
        <a:graphic>
          <a:graphicData uri="http://schemas.openxmlformats.org/drawingml/2006/table">
            <a:tbl>
              <a:tblPr firstRow="1" bandRow="1">
                <a:tableStyleId>{5C22544A-7EE6-4342-B048-85BDC9FD1C3A}</a:tableStyleId>
              </a:tblPr>
              <a:tblGrid>
                <a:gridCol w="4298315">
                  <a:extLst>
                    <a:ext uri="{9D8B030D-6E8A-4147-A177-3AD203B41FA5}">
                      <a16:colId xmlns:a16="http://schemas.microsoft.com/office/drawing/2014/main" val="20000"/>
                    </a:ext>
                  </a:extLst>
                </a:gridCol>
                <a:gridCol w="4298315">
                  <a:extLst>
                    <a:ext uri="{9D8B030D-6E8A-4147-A177-3AD203B41FA5}">
                      <a16:colId xmlns:a16="http://schemas.microsoft.com/office/drawing/2014/main" val="20001"/>
                    </a:ext>
                  </a:extLst>
                </a:gridCol>
              </a:tblGrid>
              <a:tr h="789940">
                <a:tc>
                  <a:txBody>
                    <a:bodyPr/>
                    <a:lstStyle/>
                    <a:p>
                      <a:pPr algn="ctr">
                        <a:buNone/>
                      </a:pPr>
                      <a:r>
                        <a:rPr lang="en-US" sz="3200">
                          <a:latin typeface="Times New Roman" panose="02020603050405020304" pitchFamily="18" charset="0"/>
                          <a:cs typeface="Times New Roman" panose="02020603050405020304" pitchFamily="18" charset="0"/>
                        </a:rPr>
                        <a:t>AUTHOR</a:t>
                      </a:r>
                    </a:p>
                  </a:txBody>
                  <a:tcPr>
                    <a:solidFill>
                      <a:schemeClr val="bg2">
                        <a:lumMod val="75000"/>
                      </a:schemeClr>
                    </a:solidFill>
                  </a:tcPr>
                </a:tc>
                <a:tc>
                  <a:txBody>
                    <a:bodyPr/>
                    <a:lstStyle/>
                    <a:p>
                      <a:pPr algn="ctr">
                        <a:buNone/>
                      </a:pPr>
                      <a:r>
                        <a:rPr lang="en-US" sz="2800">
                          <a:latin typeface="Times New Roman" panose="02020603050405020304" pitchFamily="18" charset="0"/>
                          <a:cs typeface="Times New Roman" panose="02020603050405020304" pitchFamily="18" charset="0"/>
                        </a:rPr>
                        <a:t>METHOD USED</a:t>
                      </a:r>
                    </a:p>
                  </a:txBody>
                  <a:tcPr>
                    <a:solidFill>
                      <a:schemeClr val="bg2">
                        <a:lumMod val="75000"/>
                      </a:schemeClr>
                    </a:solidFill>
                  </a:tcPr>
                </a:tc>
                <a:extLst>
                  <a:ext uri="{0D108BD9-81ED-4DB2-BD59-A6C34878D82A}">
                    <a16:rowId xmlns:a16="http://schemas.microsoft.com/office/drawing/2014/main" val="10000"/>
                  </a:ext>
                </a:extLst>
              </a:tr>
              <a:tr h="789940">
                <a:tc>
                  <a:txBody>
                    <a:bodyPr/>
                    <a:lstStyle/>
                    <a:p>
                      <a:pPr>
                        <a:buNone/>
                      </a:pPr>
                      <a:r>
                        <a:rPr lang="en-IN" sz="1800" dirty="0">
                          <a:latin typeface="Times New Roman" panose="02020603050405020304" pitchFamily="18" charset="0"/>
                          <a:cs typeface="Times New Roman" panose="02020603050405020304" pitchFamily="18" charset="0"/>
                          <a:sym typeface="+mn-ea"/>
                        </a:rPr>
                        <a:t>Felipe Alonso Arias Arbelaez and Francisco Ivan </a:t>
                      </a:r>
                      <a:r>
                        <a:rPr lang="en-IN" sz="1800" dirty="0" err="1">
                          <a:latin typeface="Times New Roman" panose="02020603050405020304" pitchFamily="18" charset="0"/>
                          <a:cs typeface="Times New Roman" panose="02020603050405020304" pitchFamily="18" charset="0"/>
                          <a:sym typeface="+mn-ea"/>
                        </a:rPr>
                        <a:t>Zuluaga</a:t>
                      </a:r>
                      <a:r>
                        <a:rPr lang="en-IN" sz="1800" dirty="0">
                          <a:latin typeface="Times New Roman" panose="02020603050405020304" pitchFamily="18" charset="0"/>
                          <a:cs typeface="Times New Roman" panose="02020603050405020304" pitchFamily="18" charset="0"/>
                          <a:sym typeface="+mn-ea"/>
                        </a:rPr>
                        <a:t> Daz</a:t>
                      </a:r>
                      <a:endParaRPr lang="en-US"/>
                    </a:p>
                  </a:txBody>
                  <a:tcPr>
                    <a:solidFill>
                      <a:schemeClr val="bg2">
                        <a:lumMod val="75000"/>
                      </a:schemeClr>
                    </a:solidFill>
                  </a:tcPr>
                </a:tc>
                <a:tc>
                  <a:txBody>
                    <a:bodyPr/>
                    <a:lstStyle/>
                    <a:p>
                      <a:pPr>
                        <a:buNone/>
                      </a:pPr>
                      <a:r>
                        <a:rPr lang="en-IN" sz="1800" dirty="0">
                          <a:latin typeface="Times New Roman" panose="02020603050405020304" pitchFamily="18" charset="0"/>
                          <a:cs typeface="Times New Roman" panose="02020603050405020304" pitchFamily="18" charset="0"/>
                          <a:sym typeface="+mn-ea"/>
                        </a:rPr>
                        <a:t>Estimation of Real Estate Asset Pricing Models, 2016. 10. A</a:t>
                      </a:r>
                      <a:endParaRPr lang="en-IN" sz="1800" dirty="0">
                        <a:latin typeface="Times New Roman" panose="02020603050405020304" pitchFamily="18" charset="0"/>
                        <a:cs typeface="Times New Roman" panose="02020603050405020304" pitchFamily="18" charset="0"/>
                      </a:endParaRPr>
                    </a:p>
                    <a:p>
                      <a:pPr>
                        <a:buNone/>
                      </a:pPr>
                      <a:endParaRPr lang="en-US"/>
                    </a:p>
                  </a:txBody>
                  <a:tcPr>
                    <a:solidFill>
                      <a:schemeClr val="bg2">
                        <a:lumMod val="75000"/>
                      </a:schemeClr>
                    </a:solidFill>
                  </a:tcPr>
                </a:tc>
                <a:extLst>
                  <a:ext uri="{0D108BD9-81ED-4DB2-BD59-A6C34878D82A}">
                    <a16:rowId xmlns:a16="http://schemas.microsoft.com/office/drawing/2014/main" val="10001"/>
                  </a:ext>
                </a:extLst>
              </a:tr>
              <a:tr h="789940">
                <a:tc>
                  <a:txBody>
                    <a:bodyPr/>
                    <a:lstStyle/>
                    <a:p>
                      <a:pPr>
                        <a:buNone/>
                      </a:pPr>
                      <a:r>
                        <a:rPr lang="en-US" sz="1800" dirty="0">
                          <a:latin typeface="Times New Roman" panose="02020603050405020304" pitchFamily="18" charset="0"/>
                          <a:cs typeface="Times New Roman" panose="02020603050405020304" pitchFamily="18" charset="0"/>
                          <a:sym typeface="+mn-ea"/>
                        </a:rPr>
                        <a:t>Abdul G. </a:t>
                      </a:r>
                      <a:r>
                        <a:rPr lang="en-US" sz="1800" dirty="0" err="1">
                          <a:latin typeface="Times New Roman" panose="02020603050405020304" pitchFamily="18" charset="0"/>
                          <a:cs typeface="Times New Roman" panose="02020603050405020304" pitchFamily="18" charset="0"/>
                          <a:sym typeface="+mn-ea"/>
                        </a:rPr>
                        <a:t>Sarip</a:t>
                      </a:r>
                      <a:r>
                        <a:rPr lang="en-US" sz="1800" dirty="0">
                          <a:latin typeface="Times New Roman" panose="02020603050405020304" pitchFamily="18" charset="0"/>
                          <a:cs typeface="Times New Roman" panose="02020603050405020304" pitchFamily="18" charset="0"/>
                          <a:sym typeface="+mn-ea"/>
                        </a:rPr>
                        <a:t> and Muhammad Burhan Hafez</a:t>
                      </a:r>
                      <a:endParaRPr lang="en-US"/>
                    </a:p>
                  </a:txBody>
                  <a:tcPr>
                    <a:solidFill>
                      <a:schemeClr val="bg2">
                        <a:lumMod val="75000"/>
                      </a:schemeClr>
                    </a:solidFill>
                  </a:tcPr>
                </a:tc>
                <a:tc>
                  <a:txBody>
                    <a:bodyPr/>
                    <a:lstStyle/>
                    <a:p>
                      <a:pPr>
                        <a:buNone/>
                      </a:pPr>
                      <a:r>
                        <a:rPr lang="en-US" sz="1800" dirty="0">
                          <a:latin typeface="Times New Roman" panose="02020603050405020304" pitchFamily="18" charset="0"/>
                          <a:cs typeface="Times New Roman" panose="02020603050405020304" pitchFamily="18" charset="0"/>
                          <a:sym typeface="+mn-ea"/>
                        </a:rPr>
                        <a:t> Fuzzy Logic Application for House Price Prediction, 2015.</a:t>
                      </a:r>
                      <a:endParaRPr lang="en-US"/>
                    </a:p>
                  </a:txBody>
                  <a:tcPr>
                    <a:solidFill>
                      <a:schemeClr val="bg2">
                        <a:lumMod val="75000"/>
                      </a:schemeClr>
                    </a:solidFill>
                  </a:tcPr>
                </a:tc>
                <a:extLst>
                  <a:ext uri="{0D108BD9-81ED-4DB2-BD59-A6C34878D82A}">
                    <a16:rowId xmlns:a16="http://schemas.microsoft.com/office/drawing/2014/main" val="10002"/>
                  </a:ext>
                </a:extLst>
              </a:tr>
              <a:tr h="789940">
                <a:tc>
                  <a:txBody>
                    <a:bodyPr/>
                    <a:lstStyle/>
                    <a:p>
                      <a:pPr>
                        <a:buNone/>
                      </a:pPr>
                      <a:r>
                        <a:rPr lang="en-IN" sz="1800" dirty="0">
                          <a:latin typeface="Times New Roman" panose="02020603050405020304" pitchFamily="18" charset="0"/>
                          <a:cs typeface="Times New Roman" panose="02020603050405020304" pitchFamily="18" charset="0"/>
                          <a:sym typeface="+mn-ea"/>
                        </a:rPr>
                        <a:t>Ankita </a:t>
                      </a:r>
                      <a:r>
                        <a:rPr lang="en-IN" sz="1800" dirty="0" err="1">
                          <a:latin typeface="Times New Roman" panose="02020603050405020304" pitchFamily="18" charset="0"/>
                          <a:cs typeface="Times New Roman" panose="02020603050405020304" pitchFamily="18" charset="0"/>
                          <a:sym typeface="+mn-ea"/>
                        </a:rPr>
                        <a:t>Kamire</a:t>
                      </a:r>
                      <a:r>
                        <a:rPr lang="en-IN" sz="1800" dirty="0">
                          <a:latin typeface="Times New Roman" panose="02020603050405020304" pitchFamily="18" charset="0"/>
                          <a:cs typeface="Times New Roman" panose="02020603050405020304" pitchFamily="18" charset="0"/>
                          <a:sym typeface="+mn-ea"/>
                        </a:rPr>
                        <a:t> , Nitin </a:t>
                      </a:r>
                      <a:r>
                        <a:rPr lang="en-IN" sz="1800" dirty="0" err="1">
                          <a:latin typeface="Times New Roman" panose="02020603050405020304" pitchFamily="18" charset="0"/>
                          <a:cs typeface="Times New Roman" panose="02020603050405020304" pitchFamily="18" charset="0"/>
                          <a:sym typeface="+mn-ea"/>
                        </a:rPr>
                        <a:t>Chaphalkar</a:t>
                      </a:r>
                      <a:r>
                        <a:rPr lang="en-IN" sz="1800" dirty="0">
                          <a:latin typeface="Times New Roman" panose="02020603050405020304" pitchFamily="18" charset="0"/>
                          <a:cs typeface="Times New Roman" panose="02020603050405020304" pitchFamily="18" charset="0"/>
                          <a:sym typeface="+mn-ea"/>
                        </a:rPr>
                        <a:t> , </a:t>
                      </a:r>
                      <a:r>
                        <a:rPr lang="en-IN" sz="1800" dirty="0" err="1">
                          <a:latin typeface="Times New Roman" panose="02020603050405020304" pitchFamily="18" charset="0"/>
                          <a:cs typeface="Times New Roman" panose="02020603050405020304" pitchFamily="18" charset="0"/>
                          <a:sym typeface="+mn-ea"/>
                        </a:rPr>
                        <a:t>Sayali</a:t>
                      </a:r>
                      <a:r>
                        <a:rPr lang="en-IN" sz="1800" dirty="0">
                          <a:latin typeface="Times New Roman" panose="02020603050405020304" pitchFamily="18" charset="0"/>
                          <a:cs typeface="Times New Roman" panose="02020603050405020304" pitchFamily="18" charset="0"/>
                          <a:sym typeface="+mn-ea"/>
                        </a:rPr>
                        <a:t> </a:t>
                      </a:r>
                      <a:r>
                        <a:rPr lang="en-IN" sz="1800" dirty="0" err="1">
                          <a:latin typeface="Times New Roman" panose="02020603050405020304" pitchFamily="18" charset="0"/>
                          <a:cs typeface="Times New Roman" panose="02020603050405020304" pitchFamily="18" charset="0"/>
                          <a:sym typeface="+mn-ea"/>
                        </a:rPr>
                        <a:t>Sandbhor</a:t>
                      </a:r>
                      <a:endParaRPr lang="en-US"/>
                    </a:p>
                  </a:txBody>
                  <a:tcPr>
                    <a:solidFill>
                      <a:schemeClr val="bg2">
                        <a:lumMod val="75000"/>
                      </a:schemeClr>
                    </a:solidFill>
                  </a:tcPr>
                </a:tc>
                <a:tc>
                  <a:txBody>
                    <a:bodyPr/>
                    <a:lstStyle/>
                    <a:p>
                      <a:pPr>
                        <a:buNone/>
                      </a:pPr>
                      <a:r>
                        <a:rPr lang="en-IN" sz="1800" dirty="0">
                          <a:latin typeface="Times New Roman" panose="02020603050405020304" pitchFamily="18" charset="0"/>
                          <a:cs typeface="Times New Roman" panose="02020603050405020304" pitchFamily="18" charset="0"/>
                          <a:sym typeface="+mn-ea"/>
                        </a:rPr>
                        <a:t> Real Property Value Prediction Capability Using Fuzzy Logic and ANFIS, 2021.</a:t>
                      </a:r>
                      <a:endParaRPr lang="en-US"/>
                    </a:p>
                  </a:txBody>
                  <a:tcPr>
                    <a:solidFill>
                      <a:schemeClr val="bg2">
                        <a:lumMod val="75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047" y="0"/>
            <a:ext cx="10018713" cy="1752599"/>
          </a:xfrm>
        </p:spPr>
        <p:txBody>
          <a:bodyPr/>
          <a:lstStyle/>
          <a:p>
            <a:pPr algn="just"/>
            <a:r>
              <a:rPr lang="en-US" dirty="0">
                <a:latin typeface="Times New Roman" panose="02020603050405020304" pitchFamily="18" charset="0"/>
                <a:cs typeface="Times New Roman" panose="02020603050405020304" pitchFamily="18" charset="0"/>
              </a:rPr>
              <a:t>REQUIREMENTS SPECIFICATIONS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84935" y="1964690"/>
            <a:ext cx="9930765" cy="2928620"/>
          </a:xfrm>
        </p:spPr>
        <p:txBody>
          <a:bodyPr>
            <a:noAutofit/>
          </a:bodyPr>
          <a:lstStyle/>
          <a:p>
            <a:pPr marL="0" indent="0">
              <a:buNone/>
            </a:pPr>
            <a:r>
              <a:rPr lang="en-US" altLang="en-IN" dirty="0">
                <a:latin typeface="Times New Roman" panose="02020603050405020304" pitchFamily="18" charset="0"/>
                <a:cs typeface="Times New Roman" panose="02020603050405020304" pitchFamily="18" charset="0"/>
              </a:rPr>
              <a:t>HARDWARE REQUIREMENTS:</a:t>
            </a:r>
          </a:p>
          <a:p>
            <a:pPr marL="0" indent="0">
              <a:buNone/>
            </a:pPr>
            <a:r>
              <a:rPr lang="en-US" altLang="en-IN" dirty="0">
                <a:latin typeface="Times New Roman" panose="02020603050405020304" pitchFamily="18" charset="0"/>
                <a:cs typeface="Times New Roman" panose="02020603050405020304" pitchFamily="18" charset="0"/>
              </a:rPr>
              <a:t>1. Processor: Intel Core i5 or above for high-speed processing.</a:t>
            </a:r>
          </a:p>
          <a:p>
            <a:pPr marL="0" indent="0">
              <a:buNone/>
            </a:pPr>
            <a:r>
              <a:rPr lang="en-US" altLang="en-IN" dirty="0">
                <a:latin typeface="Times New Roman" panose="02020603050405020304" pitchFamily="18" charset="0"/>
                <a:cs typeface="Times New Roman" panose="02020603050405020304" pitchFamily="18" charset="0"/>
              </a:rPr>
              <a:t>2. RAM: 8 GB or more for smooth multitasking and handling large datasets.</a:t>
            </a:r>
          </a:p>
          <a:p>
            <a:pPr marL="0" indent="0">
              <a:buNone/>
            </a:pPr>
            <a:r>
              <a:rPr lang="en-US" altLang="en-IN" dirty="0">
                <a:latin typeface="Times New Roman" panose="02020603050405020304" pitchFamily="18" charset="0"/>
                <a:cs typeface="Times New Roman" panose="02020603050405020304" pitchFamily="18" charset="0"/>
              </a:rPr>
              <a:t>3. Hard Drive: 1 TB SSD for fast data access and ample storage.</a:t>
            </a:r>
          </a:p>
          <a:p>
            <a:pPr marL="0" indent="0">
              <a:buNone/>
            </a:pPr>
            <a:r>
              <a:rPr lang="en-US" altLang="en-IN" dirty="0">
                <a:latin typeface="Times New Roman" panose="02020603050405020304" pitchFamily="18" charset="0"/>
                <a:cs typeface="Times New Roman" panose="02020603050405020304" pitchFamily="18" charset="0"/>
              </a:rPr>
              <a:t>4. Graphics Card: Dedicated GPU with at least 4 GB VRAM for enhanced data visualizations.</a:t>
            </a:r>
          </a:p>
          <a:p>
            <a:pPr marL="0" indent="0">
              <a:buNone/>
            </a:pPr>
            <a:r>
              <a:rPr lang="en-US" altLang="en-IN" dirty="0">
                <a:latin typeface="Times New Roman" panose="02020603050405020304" pitchFamily="18" charset="0"/>
                <a:cs typeface="Times New Roman" panose="02020603050405020304" pitchFamily="18" charset="0"/>
              </a:rPr>
              <a:t>5. Display Resolution: 1920x1080 (Full HD) or higher for crystal-clear visuals.</a:t>
            </a:r>
          </a:p>
          <a:p>
            <a:pPr marL="0" indent="0">
              <a:buNone/>
            </a:pPr>
            <a:r>
              <a:rPr lang="en-US" altLang="en-IN" dirty="0">
                <a:latin typeface="Times New Roman" panose="02020603050405020304" pitchFamily="18" charset="0"/>
                <a:cs typeface="Times New Roman" panose="02020603050405020304" pitchFamily="18" charset="0"/>
              </a:rPr>
              <a:t>6. Screen Size: 15.6 inches or larger for an optimal interface experience.</a:t>
            </a:r>
          </a:p>
          <a:p>
            <a:pPr marL="0" indent="0">
              <a:buNone/>
            </a:pPr>
            <a:r>
              <a:rPr lang="en-US" altLang="en-IN" dirty="0">
                <a:latin typeface="Times New Roman" panose="02020603050405020304" pitchFamily="18" charset="0"/>
                <a:cs typeface="Times New Roman" panose="02020603050405020304" pitchFamily="18" charset="0"/>
              </a:rPr>
              <a:t>7. Network Adapter: High-speed Ethernet/Wi-Fi adapter for seamless connectivity.</a:t>
            </a:r>
          </a:p>
          <a:p>
            <a:pPr marL="0" indent="0">
              <a:buNone/>
            </a:pPr>
            <a:r>
              <a:rPr lang="en-US" altLang="en-IN" dirty="0">
                <a:latin typeface="Times New Roman" panose="02020603050405020304" pitchFamily="18" charset="0"/>
                <a:cs typeface="Times New Roman" panose="02020603050405020304" pitchFamily="18" charset="0"/>
              </a:rPr>
              <a:t>8. USB Ports: At least 4 USB 3.0 ports for peripheral device integration.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047" y="0"/>
            <a:ext cx="10018713" cy="1752599"/>
          </a:xfrm>
        </p:spPr>
        <p:txBody>
          <a:bodyPr/>
          <a:lstStyle/>
          <a:p>
            <a:pPr algn="just"/>
            <a:r>
              <a:rPr lang="en-US" dirty="0">
                <a:latin typeface="Times New Roman" panose="02020603050405020304" pitchFamily="18" charset="0"/>
                <a:cs typeface="Times New Roman" panose="02020603050405020304" pitchFamily="18" charset="0"/>
              </a:rPr>
              <a:t>REQUIREMENTS SPECIFICATIONS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82040" y="1752600"/>
            <a:ext cx="10427970" cy="4367530"/>
          </a:xfrm>
        </p:spPr>
        <p:txBody>
          <a:bodyPr>
            <a:noAutofit/>
          </a:bodyPr>
          <a:lstStyle/>
          <a:p>
            <a:pPr marL="0" indent="0">
              <a:buNone/>
            </a:pPr>
            <a:r>
              <a:rPr lang="en-US" altLang="en-IN" dirty="0">
                <a:latin typeface="Times New Roman" panose="02020603050405020304" pitchFamily="18" charset="0"/>
                <a:cs typeface="Times New Roman" panose="02020603050405020304" pitchFamily="18" charset="0"/>
              </a:rPr>
              <a:t>SOFTWARE  REQUIREMENTS:</a:t>
            </a:r>
          </a:p>
          <a:p>
            <a:pPr marL="0" indent="0">
              <a:buNone/>
            </a:pPr>
            <a:r>
              <a:rPr lang="en-US" altLang="en-IN" dirty="0">
                <a:latin typeface="Times New Roman" panose="02020603050405020304" pitchFamily="18" charset="0"/>
                <a:cs typeface="Times New Roman" panose="02020603050405020304" pitchFamily="18" charset="0"/>
              </a:rPr>
              <a:t>1. Operating System: Windows 10/11 (64-bit) or Linux (Ubuntu 20.04+) for better compatibility and performance.</a:t>
            </a:r>
          </a:p>
          <a:p>
            <a:pPr marL="0" indent="0">
              <a:buNone/>
            </a:pPr>
            <a:r>
              <a:rPr lang="en-US" altLang="en-IN" dirty="0">
                <a:latin typeface="Times New Roman" panose="02020603050405020304" pitchFamily="18" charset="0"/>
                <a:cs typeface="Times New Roman" panose="02020603050405020304" pitchFamily="18" charset="0"/>
              </a:rPr>
              <a:t>2. Programming Language: Python 3.8 or above for machine learning model development.</a:t>
            </a:r>
          </a:p>
          <a:p>
            <a:pPr marL="0" indent="0">
              <a:buNone/>
            </a:pPr>
            <a:r>
              <a:rPr lang="en-US" altLang="en-IN" dirty="0">
                <a:latin typeface="Times New Roman" panose="02020603050405020304" pitchFamily="18" charset="0"/>
                <a:cs typeface="Times New Roman" panose="02020603050405020304" pitchFamily="18" charset="0"/>
              </a:rPr>
              <a:t>3. IDE: PyCharm or Visual Studio Code for efficient code writing and debugging.</a:t>
            </a:r>
          </a:p>
          <a:p>
            <a:pPr marL="0" indent="0">
              <a:buNone/>
            </a:pPr>
            <a:r>
              <a:rPr lang="en-US" altLang="en-IN" dirty="0">
                <a:latin typeface="Times New Roman" panose="02020603050405020304" pitchFamily="18" charset="0"/>
                <a:cs typeface="Times New Roman" panose="02020603050405020304" pitchFamily="18" charset="0"/>
              </a:rPr>
              <a:t>4. Web Framework: Flask or Django for building a robust web-based user interface.</a:t>
            </a:r>
          </a:p>
          <a:p>
            <a:pPr marL="0" indent="0">
              <a:buNone/>
            </a:pPr>
            <a:r>
              <a:rPr lang="en-US" altLang="en-IN" dirty="0">
                <a:latin typeface="Times New Roman" panose="02020603050405020304" pitchFamily="18" charset="0"/>
                <a:cs typeface="Times New Roman" panose="02020603050405020304" pitchFamily="18" charset="0"/>
              </a:rPr>
              <a:t>5. Front-End Technologies: HTML5, CSS3, JavaScript, and Bootstrap for a responsive design.</a:t>
            </a:r>
          </a:p>
          <a:p>
            <a:pPr marL="0" indent="0">
              <a:buNone/>
            </a:pPr>
            <a:r>
              <a:rPr lang="en-US" altLang="en-IN" dirty="0">
                <a:latin typeface="Times New Roman" panose="02020603050405020304" pitchFamily="18" charset="0"/>
                <a:cs typeface="Times New Roman" panose="02020603050405020304" pitchFamily="18" charset="0"/>
              </a:rPr>
              <a:t>6. Machine Learning Libraries: Scikit-learn, TensorFlow, or PyTorch for predictive modeling.</a:t>
            </a:r>
          </a:p>
          <a:p>
            <a:pPr marL="0" indent="0">
              <a:buNone/>
            </a:pPr>
            <a:r>
              <a:rPr lang="en-US" altLang="en-IN" dirty="0">
                <a:latin typeface="Times New Roman" panose="02020603050405020304" pitchFamily="18" charset="0"/>
                <a:cs typeface="Times New Roman" panose="02020603050405020304" pitchFamily="18" charset="0"/>
              </a:rPr>
              <a:t>7. Database: MySQL or PostgreSQL for efficient data management.</a:t>
            </a:r>
          </a:p>
          <a:p>
            <a:pPr marL="0" indent="0">
              <a:buNone/>
            </a:pPr>
            <a:r>
              <a:rPr lang="en-US" altLang="en-IN" dirty="0">
                <a:latin typeface="Times New Roman" panose="02020603050405020304" pitchFamily="18" charset="0"/>
                <a:cs typeface="Times New Roman" panose="02020603050405020304" pitchFamily="18" charset="0"/>
              </a:rPr>
              <a:t>8. Data Visualization: Matplotlib and Seaborn for generating insights and visual reports.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rcRect/>
          <a:stretch>
            <a:fillRect/>
          </a:stretch>
        </p:blipFill>
        <p:spPr>
          <a:xfrm>
            <a:off x="614265" y="1959429"/>
            <a:ext cx="11112759" cy="3974840"/>
          </a:xfrm>
          <a:prstGeom prst="rect">
            <a:avLst/>
          </a:prstGeom>
        </p:spPr>
      </p:pic>
      <p:sp>
        <p:nvSpPr>
          <p:cNvPr id="8" name="Title 7"/>
          <p:cNvSpPr>
            <a:spLocks noGrp="1"/>
          </p:cNvSpPr>
          <p:nvPr>
            <p:ph type="title"/>
          </p:nvPr>
        </p:nvSpPr>
        <p:spPr>
          <a:xfrm>
            <a:off x="1141444" y="662473"/>
            <a:ext cx="10058400" cy="1045029"/>
          </a:xfrm>
        </p:spPr>
        <p:txBody>
          <a:bodyPr>
            <a:noAutofit/>
          </a:bodyPr>
          <a:lstStyle/>
          <a:p>
            <a:r>
              <a:rPr lang="en-US" sz="3200" dirty="0">
                <a:latin typeface="Times New Roman" panose="02020603050405020304" pitchFamily="18" charset="0"/>
                <a:cs typeface="Times New Roman" panose="02020603050405020304" pitchFamily="18" charset="0"/>
              </a:rPr>
              <a:t>UML DIAGRAMS:-</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1)Usecase diagram</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rcRect/>
          <a:stretch>
            <a:fillRect/>
          </a:stretch>
        </p:blipFill>
        <p:spPr>
          <a:xfrm>
            <a:off x="2157011" y="1959429"/>
            <a:ext cx="8027267" cy="3974840"/>
          </a:xfrm>
          <a:prstGeom prst="rect">
            <a:avLst/>
          </a:prstGeom>
        </p:spPr>
      </p:pic>
      <p:sp>
        <p:nvSpPr>
          <p:cNvPr id="8" name="Title 7"/>
          <p:cNvSpPr>
            <a:spLocks noGrp="1"/>
          </p:cNvSpPr>
          <p:nvPr>
            <p:ph type="title"/>
          </p:nvPr>
        </p:nvSpPr>
        <p:spPr>
          <a:xfrm>
            <a:off x="1160105" y="1091681"/>
            <a:ext cx="10058400" cy="531845"/>
          </a:xfrm>
        </p:spPr>
        <p:txBody>
          <a:bodyPr>
            <a:noAutofit/>
          </a:bodyPr>
          <a:lstStyle/>
          <a:p>
            <a:r>
              <a:rPr lang="en-US" sz="3200" dirty="0">
                <a:latin typeface="Times New Roman" panose="02020603050405020304" pitchFamily="18" charset="0"/>
                <a:cs typeface="Times New Roman" panose="02020603050405020304" pitchFamily="18" charset="0"/>
              </a:rPr>
              <a:t>2)Sequence diagram</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rcRect/>
          <a:stretch>
            <a:fillRect/>
          </a:stretch>
        </p:blipFill>
        <p:spPr>
          <a:xfrm>
            <a:off x="886409" y="830424"/>
            <a:ext cx="10646228" cy="5355772"/>
          </a:xfrm>
          <a:prstGeom prst="rect">
            <a:avLst/>
          </a:prstGeom>
        </p:spPr>
      </p:pic>
      <p:sp>
        <p:nvSpPr>
          <p:cNvPr id="8" name="Title 7"/>
          <p:cNvSpPr>
            <a:spLocks noGrp="1"/>
          </p:cNvSpPr>
          <p:nvPr>
            <p:ph type="title"/>
          </p:nvPr>
        </p:nvSpPr>
        <p:spPr>
          <a:xfrm>
            <a:off x="740228" y="139958"/>
            <a:ext cx="10058400" cy="531845"/>
          </a:xfrm>
        </p:spPr>
        <p:txBody>
          <a:bodyPr>
            <a:noAutofit/>
          </a:bodyPr>
          <a:lstStyle/>
          <a:p>
            <a:r>
              <a:rPr lang="en-US" sz="3200" dirty="0">
                <a:latin typeface="Times New Roman" panose="02020603050405020304" pitchFamily="18" charset="0"/>
                <a:cs typeface="Times New Roman" panose="02020603050405020304" pitchFamily="18" charset="0"/>
              </a:rPr>
              <a:t>3)Class diagram</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rcRect/>
          <a:stretch>
            <a:fillRect/>
          </a:stretch>
        </p:blipFill>
        <p:spPr>
          <a:xfrm>
            <a:off x="615820" y="830424"/>
            <a:ext cx="10646229" cy="5355772"/>
          </a:xfrm>
          <a:prstGeom prst="rect">
            <a:avLst/>
          </a:prstGeom>
        </p:spPr>
      </p:pic>
      <p:sp>
        <p:nvSpPr>
          <p:cNvPr id="8" name="Title 7"/>
          <p:cNvSpPr>
            <a:spLocks noGrp="1"/>
          </p:cNvSpPr>
          <p:nvPr>
            <p:ph type="title"/>
          </p:nvPr>
        </p:nvSpPr>
        <p:spPr>
          <a:xfrm>
            <a:off x="740228" y="139958"/>
            <a:ext cx="10058400" cy="531845"/>
          </a:xfrm>
        </p:spPr>
        <p:txBody>
          <a:bodyPr>
            <a:noAutofit/>
          </a:bodyPr>
          <a:lstStyle/>
          <a:p>
            <a:r>
              <a:rPr lang="en-US" sz="3200" dirty="0">
                <a:latin typeface="Times New Roman" panose="02020603050405020304" pitchFamily="18" charset="0"/>
                <a:cs typeface="Times New Roman" panose="02020603050405020304" pitchFamily="18" charset="0"/>
              </a:rPr>
              <a:t>4)Activity diagram</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1673"/>
            <a:ext cx="12192000" cy="68546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673"/>
            <a:ext cx="12192000" cy="685465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2245360"/>
            <a:ext cx="8596668" cy="3413760"/>
          </a:xfrm>
        </p:spPr>
        <p:txBody>
          <a:bodyPr/>
          <a:lstStyle/>
          <a:p>
            <a:r>
              <a:rPr lang="en-IN" dirty="0">
                <a:latin typeface="Algerian" panose="04020705040A02060702" pitchFamily="82" charset="0"/>
              </a:rPr>
              <a:t>                </a:t>
            </a:r>
            <a:r>
              <a:rPr lang="en-IN" sz="6000" dirty="0">
                <a:latin typeface="Algerian" panose="04020705040A02060702" pitchFamily="82" charset="0"/>
              </a:rPr>
              <a:t>THANK YOU…….</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5143</Words>
  <Application>Microsoft Office PowerPoint</Application>
  <PresentationFormat>Widescreen</PresentationFormat>
  <Paragraphs>126</Paragraphs>
  <Slides>18</Slides>
  <Notes>0</Notes>
  <HiddenSlides>0</HiddenSlides>
  <MMClips>0</MMClip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Retrospect</vt:lpstr>
      <vt:lpstr>Wisp</vt:lpstr>
      <vt:lpstr>HOUSE PRICE PREDICTION</vt:lpstr>
      <vt:lpstr>PowerPoint Presentation</vt:lpstr>
      <vt:lpstr>                       ABSTRACT</vt:lpstr>
      <vt:lpstr>OBJECTIVE AND SCOPE OF THE PROJECT :</vt:lpstr>
      <vt:lpstr> Existing System:</vt:lpstr>
      <vt:lpstr> Proposed System:</vt:lpstr>
      <vt:lpstr>LITERATURE REVIEW :-</vt:lpstr>
      <vt:lpstr>LITERATURE REVIEW :-</vt:lpstr>
      <vt:lpstr>REQUIREMENTS SPECIFICATIONS</vt:lpstr>
      <vt:lpstr>REQUIREMENTS SPECIFICATIONS</vt:lpstr>
      <vt:lpstr>UML DIAGRAMS:-  1)Usecase diagram</vt:lpstr>
      <vt:lpstr>2)Sequence diagram</vt:lpstr>
      <vt:lpstr>3)Class diagram</vt:lpstr>
      <vt:lpstr>4)Activity diagram</vt:lpstr>
      <vt:lpstr>PowerPoint Presentation</vt:lpstr>
      <vt:lpstr>PowerPoint Presentation</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book store</dc:title>
  <dc:creator>SATWIK SAMRAT</dc:creator>
  <cp:lastModifiedBy>rohithd142@gmail.com</cp:lastModifiedBy>
  <cp:revision>22</cp:revision>
  <dcterms:created xsi:type="dcterms:W3CDTF">2023-08-23T16:47:00Z</dcterms:created>
  <dcterms:modified xsi:type="dcterms:W3CDTF">2024-11-07T14:21:59Z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3A4C63B9BE0941B19E015B95AD188E9C_13</vt:lpwstr>
  </property>
  <property fmtid="{D5CDD505-2E9C-101B-9397-08002B2CF9AE}" pid="3" name="KSOProductBuildVer">
    <vt:lpwstr>1033-12.2.0.13472</vt:lpwstr>
  </property>
</Properties>
</file>